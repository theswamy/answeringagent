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Post-transaction, every dollar above NLP's repaid $35M splits 31.4 / 54.5 / 14.1 — the bar at the foot of this slide, carried through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B is 68.6%, not the 69.6% in the first draft — the two have to sum to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illustrative exits total exactly $35M, which is why the preference clears precisely at the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22"/>
        </a:solidFill>
      </p:bgPr>
    </p:bg>
    <p:spTree>
      <p:nvGrpSpPr>
        <p:cNvPr id="1" name=""/>
        <p:cNvGrpSpPr/>
        <p:nvPr/>
      </p:nvGrpSpPr>
      <p:grpSpPr>
        <a:xfrm>
          <a:off x="0" y="0"/>
          <a:ext cx="0" cy="0"/>
          <a:chOff x="0" y="0"/>
          <a:chExt cx="0" cy="0"/>
        </a:xfrm>
      </p:grpSpPr>
      <p:sp>
        <p:nvSpPr>
          <p:cNvPr id="2" name="Text 0"/>
          <p:cNvSpPr txBox="1"/>
          <p:nvPr/>
        </p:nvSpPr>
        <p:spPr>
          <a:xfrm>
            <a:off x="594360" y="2011680"/>
            <a:ext cx="10972800" cy="274320"/>
          </a:xfrm>
          <a:prstGeom prst="rect">
            <a:avLst/>
          </a:prstGeom>
          <a:noFill/>
          <a:ln/>
        </p:spPr>
        <p:txBody>
          <a:bodyPr wrap="square" lIns="0" tIns="0" rIns="0" bIns="0" rtlCol="0" anchor="ctr"/>
          <a:lstStyle/>
          <a:p>
            <a:pPr indent="0" marL="0">
              <a:buNone/>
            </a:pPr>
            <a:r>
              <a:rPr lang="en-US" sz="1200" b="1" spc="240" kern="0" dirty="0">
                <a:solidFill>
                  <a:srgbClr val="5ECACD"/>
                </a:solidFill>
                <a:latin typeface="Calibri" pitchFamily="34" charset="0"/>
                <a:ea typeface="Calibri" pitchFamily="34" charset="-122"/>
                <a:cs typeface="Calibri" pitchFamily="34" charset="-120"/>
              </a:rPr>
              <a:t>SB2 / NLP SECONDARY</a:t>
            </a:r>
            <a:endParaRPr lang="en-US" sz="1200" dirty="0"/>
          </a:p>
        </p:txBody>
      </p:sp>
      <p:sp>
        <p:nvSpPr>
          <p:cNvPr id="3" name="Text 1"/>
          <p:cNvSpPr txBox="1"/>
          <p:nvPr/>
        </p:nvSpPr>
        <p:spPr>
          <a:xfrm>
            <a:off x="594360" y="2395728"/>
            <a:ext cx="8778240" cy="11430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How the money moves</a:t>
            </a:r>
            <a:endParaRPr lang="en-US" sz="5200" dirty="0"/>
          </a:p>
        </p:txBody>
      </p:sp>
      <p:sp>
        <p:nvSpPr>
          <p:cNvPr id="4" name="Text 2"/>
          <p:cNvSpPr txBox="1"/>
          <p:nvPr/>
        </p:nvSpPr>
        <p:spPr>
          <a:xfrm>
            <a:off x="594360" y="3657600"/>
            <a:ext cx="8412480" cy="1005840"/>
          </a:xfrm>
          <a:prstGeom prst="rect">
            <a:avLst/>
          </a:prstGeom>
          <a:noFill/>
          <a:ln/>
        </p:spPr>
        <p:txBody>
          <a:bodyPr wrap="square" lIns="0" tIns="0" rIns="0" bIns="0" rtlCol="0" anchor="ctr"/>
          <a:lstStyle/>
          <a:p>
            <a:pPr indent="0" marL="0">
              <a:lnSpc>
                <a:spcPts val="2200"/>
              </a:lnSpc>
              <a:buNone/>
            </a:pPr>
            <a:r>
              <a:rPr lang="en-US" sz="1500" dirty="0">
                <a:solidFill>
                  <a:srgbClr val="AFC4C6"/>
                </a:solidFill>
                <a:latin typeface="Calibri" pitchFamily="34" charset="0"/>
                <a:ea typeface="Calibri" pitchFamily="34" charset="-122"/>
                <a:cs typeface="Calibri" pitchFamily="34" charset="-120"/>
              </a:rPr>
              <a:t>NLP is buying $35M of exposure to SB2 from the existing LPs. Where each dollar of every future exit goes, in what order, and why the priority return belongs in the documents as a formula rather than a multiple.</a:t>
            </a:r>
            <a:endParaRPr lang="en-US" sz="1500" dirty="0"/>
          </a:p>
        </p:txBody>
      </p:sp>
      <p:sp>
        <p:nvSpPr>
          <p:cNvPr id="5" name="Text 3"/>
          <p:cNvSpPr txBox="1"/>
          <p:nvPr/>
        </p:nvSpPr>
        <p:spPr>
          <a:xfrm>
            <a:off x="594360" y="5943600"/>
            <a:ext cx="10972800" cy="274320"/>
          </a:xfrm>
          <a:prstGeom prst="rect">
            <a:avLst/>
          </a:prstGeom>
          <a:noFill/>
          <a:ln/>
        </p:spPr>
        <p:txBody>
          <a:bodyPr wrap="square" lIns="0" tIns="0" rIns="0" bIns="0" rtlCol="0" anchor="ctr"/>
          <a:lstStyle/>
          <a:p>
            <a:pPr indent="0" marL="0">
              <a:buNone/>
            </a:pPr>
            <a:r>
              <a:rPr lang="en-US" sz="1100" spc="160" kern="0" dirty="0">
                <a:solidFill>
                  <a:srgbClr val="6C7F85"/>
                </a:solidFill>
                <a:latin typeface="Calibri" pitchFamily="34" charset="0"/>
                <a:ea typeface="Calibri" pitchFamily="34" charset="-122"/>
                <a:cs typeface="Calibri" pitchFamily="34" charset="-120"/>
              </a:rPr>
              <a:t>August 2026</a:t>
            </a:r>
            <a:endParaRPr lang="en-US" sz="1100" dirty="0"/>
          </a:p>
        </p:txBody>
      </p:sp>
      <p:sp>
        <p:nvSpPr>
          <p:cNvPr id="6" name="Shape 4"/>
          <p:cNvSpPr/>
          <p:nvPr/>
        </p:nvSpPr>
        <p:spPr>
          <a:xfrm>
            <a:off x="594360" y="5029200"/>
            <a:ext cx="3445459" cy="201168"/>
          </a:xfrm>
          <a:prstGeom prst="rect">
            <a:avLst/>
          </a:prstGeom>
          <a:solidFill>
            <a:srgbClr val="0D6068"/>
          </a:solidFill>
          <a:ln/>
        </p:spPr>
      </p:sp>
      <p:sp>
        <p:nvSpPr>
          <p:cNvPr id="7" name="Text 5"/>
          <p:cNvSpPr txBox="1"/>
          <p:nvPr/>
        </p:nvSpPr>
        <p:spPr>
          <a:xfrm>
            <a:off x="704088" y="5084064"/>
            <a:ext cx="3226003" cy="9144"/>
          </a:xfrm>
          <a:prstGeom prst="rect">
            <a:avLst/>
          </a:prstGeom>
          <a:noFill/>
          <a:ln/>
        </p:spPr>
        <p:txBody>
          <a:bodyPr wrap="square" lIns="0" tIns="0" rIns="0" bIns="0" rtlCol="0" anchor="ctr"/>
          <a:lstStyle/>
          <a:p>
            <a:pPr indent="0" marL="0">
              <a:buNone/>
            </a:pPr>
            <a:endParaRPr lang="en-US" sz="1500" dirty="0"/>
          </a:p>
        </p:txBody>
      </p:sp>
      <p:sp>
        <p:nvSpPr>
          <p:cNvPr id="8" name="Shape 6"/>
          <p:cNvSpPr/>
          <p:nvPr/>
        </p:nvSpPr>
        <p:spPr>
          <a:xfrm>
            <a:off x="4039819" y="5029200"/>
            <a:ext cx="5980176" cy="201168"/>
          </a:xfrm>
          <a:prstGeom prst="rect">
            <a:avLst/>
          </a:prstGeom>
          <a:solidFill>
            <a:srgbClr val="7FA6A6"/>
          </a:solidFill>
          <a:ln/>
        </p:spPr>
      </p:sp>
      <p:sp>
        <p:nvSpPr>
          <p:cNvPr id="9" name="Text 7"/>
          <p:cNvSpPr txBox="1"/>
          <p:nvPr/>
        </p:nvSpPr>
        <p:spPr>
          <a:xfrm>
            <a:off x="4149547" y="5084064"/>
            <a:ext cx="5760720" cy="9144"/>
          </a:xfrm>
          <a:prstGeom prst="rect">
            <a:avLst/>
          </a:prstGeom>
          <a:noFill/>
          <a:ln/>
        </p:spPr>
        <p:txBody>
          <a:bodyPr wrap="square" lIns="0" tIns="0" rIns="0" bIns="0" rtlCol="0" anchor="ctr"/>
          <a:lstStyle/>
          <a:p>
            <a:pPr indent="0" marL="0">
              <a:buNone/>
            </a:pPr>
            <a:endParaRPr lang="en-US" sz="1500" dirty="0"/>
          </a:p>
        </p:txBody>
      </p:sp>
      <p:sp>
        <p:nvSpPr>
          <p:cNvPr id="10" name="Shape 8"/>
          <p:cNvSpPr/>
          <p:nvPr/>
        </p:nvSpPr>
        <p:spPr>
          <a:xfrm>
            <a:off x="10019995" y="5029200"/>
            <a:ext cx="1547165" cy="201168"/>
          </a:xfrm>
          <a:prstGeom prst="rect">
            <a:avLst/>
          </a:prstGeom>
          <a:solidFill>
            <a:srgbClr val="96501F"/>
          </a:solidFill>
          <a:ln/>
        </p:spPr>
      </p:sp>
      <p:sp>
        <p:nvSpPr>
          <p:cNvPr id="11" name="Text 9"/>
          <p:cNvSpPr txBox="1"/>
          <p:nvPr/>
        </p:nvSpPr>
        <p:spPr>
          <a:xfrm>
            <a:off x="10129723" y="5084064"/>
            <a:ext cx="1327709" cy="9144"/>
          </a:xfrm>
          <a:prstGeom prst="rect">
            <a:avLst/>
          </a:prstGeom>
          <a:noFill/>
          <a:ln/>
        </p:spPr>
        <p:txBody>
          <a:bodyPr wrap="square" lIns="0" tIns="0" rIns="0" bIns="0" rtlCol="0" anchor="ctr"/>
          <a:lstStyle/>
          <a:p>
            <a:pPr indent="0" marL="0">
              <a:buNone/>
            </a:pP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WHERE WE START</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A $45.6M fund, carried at $360M</a:t>
            </a:r>
            <a:endParaRPr lang="en-US" sz="3000" dirty="0"/>
          </a:p>
        </p:txBody>
      </p:sp>
      <p:sp>
        <p:nvSpPr>
          <p:cNvPr id="4" name="Shape 2"/>
          <p:cNvSpPr/>
          <p:nvPr/>
        </p:nvSpPr>
        <p:spPr>
          <a:xfrm>
            <a:off x="594360" y="2011680"/>
            <a:ext cx="2640330" cy="1371600"/>
          </a:xfrm>
          <a:prstGeom prst="roundRect">
            <a:avLst>
              <a:gd name="adj" fmla="val 2667"/>
            </a:avLst>
          </a:prstGeom>
          <a:solidFill>
            <a:srgbClr val="F1F4F4"/>
          </a:solidFill>
          <a:ln w="12700">
            <a:solidFill>
              <a:srgbClr val="D5DCDD"/>
            </a:solidFill>
            <a:prstDash val="solid"/>
          </a:ln>
        </p:spPr>
      </p:sp>
      <p:sp>
        <p:nvSpPr>
          <p:cNvPr id="5" name="Text 3"/>
          <p:cNvSpPr txBox="1"/>
          <p:nvPr/>
        </p:nvSpPr>
        <p:spPr>
          <a:xfrm>
            <a:off x="777240" y="2157984"/>
            <a:ext cx="2274570" cy="219456"/>
          </a:xfrm>
          <a:prstGeom prst="rect">
            <a:avLst/>
          </a:prstGeom>
          <a:noFill/>
          <a:ln/>
        </p:spPr>
        <p:txBody>
          <a:bodyPr wrap="square" lIns="0" tIns="0" rIns="0" bIns="0" rtlCol="0" anchor="ctr"/>
          <a:lstStyle/>
          <a:p>
            <a:pPr indent="0" marL="0">
              <a:buNone/>
            </a:pPr>
            <a:r>
              <a:rPr lang="en-US" sz="1000" b="1" spc="120" kern="0" dirty="0">
                <a:solidFill>
                  <a:srgbClr val="6C7F85"/>
                </a:solidFill>
                <a:latin typeface="Calibri" pitchFamily="34" charset="0"/>
                <a:ea typeface="Calibri" pitchFamily="34" charset="-122"/>
                <a:cs typeface="Calibri" pitchFamily="34" charset="-120"/>
              </a:rPr>
              <a:t>FUND SIZE</a:t>
            </a:r>
            <a:endParaRPr lang="en-US" sz="1000" dirty="0"/>
          </a:p>
        </p:txBody>
      </p:sp>
      <p:sp>
        <p:nvSpPr>
          <p:cNvPr id="6" name="Text 4"/>
          <p:cNvSpPr txBox="1"/>
          <p:nvPr/>
        </p:nvSpPr>
        <p:spPr>
          <a:xfrm>
            <a:off x="777240" y="2395728"/>
            <a:ext cx="2274570" cy="502920"/>
          </a:xfrm>
          <a:prstGeom prst="rect">
            <a:avLst/>
          </a:prstGeom>
          <a:noFill/>
          <a:ln/>
        </p:spPr>
        <p:txBody>
          <a:bodyPr wrap="square" lIns="0" tIns="0" rIns="0" bIns="0" rtlCol="0" anchor="ctr"/>
          <a:lstStyle/>
          <a:p>
            <a:pPr indent="0" marL="0">
              <a:buNone/>
            </a:pPr>
            <a:r>
              <a:rPr lang="en-US" sz="2800" b="1" dirty="0">
                <a:solidFill>
                  <a:srgbClr val="0F1E22"/>
                </a:solidFill>
                <a:latin typeface="Cambria" pitchFamily="34" charset="0"/>
                <a:ea typeface="Cambria" pitchFamily="34" charset="-122"/>
                <a:cs typeface="Cambria" pitchFamily="34" charset="-120"/>
              </a:rPr>
              <a:t>$45.61M</a:t>
            </a:r>
            <a:endParaRPr lang="en-US" sz="2800" dirty="0"/>
          </a:p>
        </p:txBody>
      </p:sp>
      <p:sp>
        <p:nvSpPr>
          <p:cNvPr id="7" name="Text 5"/>
          <p:cNvSpPr txBox="1"/>
          <p:nvPr/>
        </p:nvSpPr>
        <p:spPr>
          <a:xfrm>
            <a:off x="777240" y="2926080"/>
            <a:ext cx="2274570" cy="347472"/>
          </a:xfrm>
          <a:prstGeom prst="rect">
            <a:avLst/>
          </a:prstGeom>
          <a:noFill/>
          <a:ln/>
        </p:spPr>
        <p:txBody>
          <a:bodyPr wrap="square" lIns="0" tIns="0" rIns="0" bIns="0" rtlCol="0" anchor="ctr"/>
          <a:lstStyle/>
          <a:p>
            <a:pPr indent="0" marL="0">
              <a:buNone/>
            </a:pPr>
            <a:r>
              <a:rPr lang="en-US" sz="1100" dirty="0">
                <a:solidFill>
                  <a:srgbClr val="6C7F85"/>
                </a:solidFill>
                <a:latin typeface="Calibri" pitchFamily="34" charset="0"/>
                <a:ea typeface="Calibri" pitchFamily="34" charset="-122"/>
                <a:cs typeface="Calibri" pitchFamily="34" charset="-120"/>
              </a:rPr>
              <a:t>GP 2% · LP 98%</a:t>
            </a:r>
            <a:endParaRPr lang="en-US" sz="1100" dirty="0"/>
          </a:p>
        </p:txBody>
      </p:sp>
      <p:sp>
        <p:nvSpPr>
          <p:cNvPr id="8" name="Shape 6"/>
          <p:cNvSpPr/>
          <p:nvPr/>
        </p:nvSpPr>
        <p:spPr>
          <a:xfrm>
            <a:off x="3371850" y="2011680"/>
            <a:ext cx="2640330" cy="1371600"/>
          </a:xfrm>
          <a:prstGeom prst="roundRect">
            <a:avLst>
              <a:gd name="adj" fmla="val 2667"/>
            </a:avLst>
          </a:prstGeom>
          <a:solidFill>
            <a:srgbClr val="F1F4F4"/>
          </a:solidFill>
          <a:ln w="12700">
            <a:solidFill>
              <a:srgbClr val="D5DCDD"/>
            </a:solidFill>
            <a:prstDash val="solid"/>
          </a:ln>
        </p:spPr>
      </p:sp>
      <p:sp>
        <p:nvSpPr>
          <p:cNvPr id="9" name="Text 7"/>
          <p:cNvSpPr txBox="1"/>
          <p:nvPr/>
        </p:nvSpPr>
        <p:spPr>
          <a:xfrm>
            <a:off x="3554730" y="2157984"/>
            <a:ext cx="2274570" cy="219456"/>
          </a:xfrm>
          <a:prstGeom prst="rect">
            <a:avLst/>
          </a:prstGeom>
          <a:noFill/>
          <a:ln/>
        </p:spPr>
        <p:txBody>
          <a:bodyPr wrap="square" lIns="0" tIns="0" rIns="0" bIns="0" rtlCol="0" anchor="ctr"/>
          <a:lstStyle/>
          <a:p>
            <a:pPr indent="0" marL="0">
              <a:buNone/>
            </a:pPr>
            <a:r>
              <a:rPr lang="en-US" sz="1000" b="1" spc="120" kern="0" dirty="0">
                <a:solidFill>
                  <a:srgbClr val="6C7F85"/>
                </a:solidFill>
                <a:latin typeface="Calibri" pitchFamily="34" charset="0"/>
                <a:ea typeface="Calibri" pitchFamily="34" charset="-122"/>
                <a:cs typeface="Calibri" pitchFamily="34" charset="-120"/>
              </a:rPr>
              <a:t>DISTRIBUTED</a:t>
            </a:r>
            <a:endParaRPr lang="en-US" sz="1000" dirty="0"/>
          </a:p>
        </p:txBody>
      </p:sp>
      <p:sp>
        <p:nvSpPr>
          <p:cNvPr id="10" name="Text 8"/>
          <p:cNvSpPr txBox="1"/>
          <p:nvPr/>
        </p:nvSpPr>
        <p:spPr>
          <a:xfrm>
            <a:off x="3554730" y="2395728"/>
            <a:ext cx="2274570" cy="502920"/>
          </a:xfrm>
          <a:prstGeom prst="rect">
            <a:avLst/>
          </a:prstGeom>
          <a:noFill/>
          <a:ln/>
        </p:spPr>
        <p:txBody>
          <a:bodyPr wrap="square" lIns="0" tIns="0" rIns="0" bIns="0" rtlCol="0" anchor="ctr"/>
          <a:lstStyle/>
          <a:p>
            <a:pPr indent="0" marL="0">
              <a:buNone/>
            </a:pPr>
            <a:r>
              <a:rPr lang="en-US" sz="2800" b="1" dirty="0">
                <a:solidFill>
                  <a:srgbClr val="0F1E22"/>
                </a:solidFill>
                <a:latin typeface="Cambria" pitchFamily="34" charset="0"/>
                <a:ea typeface="Cambria" pitchFamily="34" charset="-122"/>
                <a:cs typeface="Cambria" pitchFamily="34" charset="-120"/>
              </a:rPr>
              <a:t>$11.0M</a:t>
            </a:r>
            <a:endParaRPr lang="en-US" sz="2800" dirty="0"/>
          </a:p>
        </p:txBody>
      </p:sp>
      <p:sp>
        <p:nvSpPr>
          <p:cNvPr id="11" name="Text 9"/>
          <p:cNvSpPr txBox="1"/>
          <p:nvPr/>
        </p:nvSpPr>
        <p:spPr>
          <a:xfrm>
            <a:off x="3554730" y="2926080"/>
            <a:ext cx="2274570" cy="347472"/>
          </a:xfrm>
          <a:prstGeom prst="rect">
            <a:avLst/>
          </a:prstGeom>
          <a:noFill/>
          <a:ln/>
        </p:spPr>
        <p:txBody>
          <a:bodyPr wrap="square" lIns="0" tIns="0" rIns="0" bIns="0" rtlCol="0" anchor="ctr"/>
          <a:lstStyle/>
          <a:p>
            <a:pPr indent="0" marL="0">
              <a:buNone/>
            </a:pPr>
            <a:r>
              <a:rPr lang="en-US" sz="1100" dirty="0">
                <a:solidFill>
                  <a:srgbClr val="6C7F85"/>
                </a:solidFill>
                <a:latin typeface="Calibri" pitchFamily="34" charset="0"/>
                <a:ea typeface="Calibri" pitchFamily="34" charset="-122"/>
                <a:cs typeface="Calibri" pitchFamily="34" charset="-120"/>
              </a:rPr>
              <a:t>to date</a:t>
            </a:r>
            <a:endParaRPr lang="en-US" sz="1100" dirty="0"/>
          </a:p>
        </p:txBody>
      </p:sp>
      <p:sp>
        <p:nvSpPr>
          <p:cNvPr id="12" name="Shape 10"/>
          <p:cNvSpPr/>
          <p:nvPr/>
        </p:nvSpPr>
        <p:spPr>
          <a:xfrm>
            <a:off x="6149340" y="2011680"/>
            <a:ext cx="2640330" cy="1371600"/>
          </a:xfrm>
          <a:prstGeom prst="roundRect">
            <a:avLst>
              <a:gd name="adj" fmla="val 2667"/>
            </a:avLst>
          </a:prstGeom>
          <a:solidFill>
            <a:srgbClr val="F1F4F4"/>
          </a:solidFill>
          <a:ln w="12700">
            <a:solidFill>
              <a:srgbClr val="D5DCDD"/>
            </a:solidFill>
            <a:prstDash val="solid"/>
          </a:ln>
        </p:spPr>
      </p:sp>
      <p:sp>
        <p:nvSpPr>
          <p:cNvPr id="13" name="Text 11"/>
          <p:cNvSpPr txBox="1"/>
          <p:nvPr/>
        </p:nvSpPr>
        <p:spPr>
          <a:xfrm>
            <a:off x="6332220" y="2157984"/>
            <a:ext cx="2274570" cy="219456"/>
          </a:xfrm>
          <a:prstGeom prst="rect">
            <a:avLst/>
          </a:prstGeom>
          <a:noFill/>
          <a:ln/>
        </p:spPr>
        <p:txBody>
          <a:bodyPr wrap="square" lIns="0" tIns="0" rIns="0" bIns="0" rtlCol="0" anchor="ctr"/>
          <a:lstStyle/>
          <a:p>
            <a:pPr indent="0" marL="0">
              <a:buNone/>
            </a:pPr>
            <a:r>
              <a:rPr lang="en-US" sz="1000" b="1" spc="120" kern="0" dirty="0">
                <a:solidFill>
                  <a:srgbClr val="6C7F85"/>
                </a:solidFill>
                <a:latin typeface="Calibri" pitchFamily="34" charset="0"/>
                <a:ea typeface="Calibri" pitchFamily="34" charset="-122"/>
                <a:cs typeface="Calibri" pitchFamily="34" charset="-120"/>
              </a:rPr>
              <a:t>ROC TO GO</a:t>
            </a:r>
            <a:endParaRPr lang="en-US" sz="1000" dirty="0"/>
          </a:p>
        </p:txBody>
      </p:sp>
      <p:sp>
        <p:nvSpPr>
          <p:cNvPr id="14" name="Text 12"/>
          <p:cNvSpPr txBox="1"/>
          <p:nvPr/>
        </p:nvSpPr>
        <p:spPr>
          <a:xfrm>
            <a:off x="6332220" y="2395728"/>
            <a:ext cx="2274570" cy="502920"/>
          </a:xfrm>
          <a:prstGeom prst="rect">
            <a:avLst/>
          </a:prstGeom>
          <a:noFill/>
          <a:ln/>
        </p:spPr>
        <p:txBody>
          <a:bodyPr wrap="square" lIns="0" tIns="0" rIns="0" bIns="0" rtlCol="0" anchor="ctr"/>
          <a:lstStyle/>
          <a:p>
            <a:pPr indent="0" marL="0">
              <a:buNone/>
            </a:pPr>
            <a:r>
              <a:rPr lang="en-US" sz="2800" b="1" dirty="0">
                <a:solidFill>
                  <a:srgbClr val="0F1E22"/>
                </a:solidFill>
                <a:latin typeface="Cambria" pitchFamily="34" charset="0"/>
                <a:ea typeface="Cambria" pitchFamily="34" charset="-122"/>
                <a:cs typeface="Cambria" pitchFamily="34" charset="-120"/>
              </a:rPr>
              <a:t>$35.0M</a:t>
            </a:r>
            <a:endParaRPr lang="en-US" sz="2800" dirty="0"/>
          </a:p>
        </p:txBody>
      </p:sp>
      <p:sp>
        <p:nvSpPr>
          <p:cNvPr id="15" name="Text 13"/>
          <p:cNvSpPr txBox="1"/>
          <p:nvPr/>
        </p:nvSpPr>
        <p:spPr>
          <a:xfrm>
            <a:off x="6332220" y="2926080"/>
            <a:ext cx="2274570" cy="347472"/>
          </a:xfrm>
          <a:prstGeom prst="rect">
            <a:avLst/>
          </a:prstGeom>
          <a:noFill/>
          <a:ln/>
        </p:spPr>
        <p:txBody>
          <a:bodyPr wrap="square" lIns="0" tIns="0" rIns="0" bIns="0" rtlCol="0" anchor="ctr"/>
          <a:lstStyle/>
          <a:p>
            <a:pPr indent="0" marL="0">
              <a:buNone/>
            </a:pPr>
            <a:r>
              <a:rPr lang="en-US" sz="1100" dirty="0">
                <a:solidFill>
                  <a:srgbClr val="6C7F85"/>
                </a:solidFill>
                <a:latin typeface="Calibri" pitchFamily="34" charset="0"/>
                <a:ea typeface="Calibri" pitchFamily="34" charset="-122"/>
                <a:cs typeface="Calibri" pitchFamily="34" charset="-120"/>
              </a:rPr>
              <a:t>before carry bites</a:t>
            </a:r>
            <a:endParaRPr lang="en-US" sz="1100" dirty="0"/>
          </a:p>
        </p:txBody>
      </p:sp>
      <p:sp>
        <p:nvSpPr>
          <p:cNvPr id="16" name="Shape 14"/>
          <p:cNvSpPr/>
          <p:nvPr/>
        </p:nvSpPr>
        <p:spPr>
          <a:xfrm>
            <a:off x="8926830" y="2011680"/>
            <a:ext cx="2640330" cy="1371600"/>
          </a:xfrm>
          <a:prstGeom prst="roundRect">
            <a:avLst>
              <a:gd name="adj" fmla="val 2667"/>
            </a:avLst>
          </a:prstGeom>
          <a:solidFill>
            <a:srgbClr val="0D6068"/>
          </a:solidFill>
          <a:ln w="12700">
            <a:solidFill>
              <a:srgbClr val="0D6068"/>
            </a:solidFill>
            <a:prstDash val="solid"/>
          </a:ln>
        </p:spPr>
      </p:sp>
      <p:sp>
        <p:nvSpPr>
          <p:cNvPr id="17" name="Text 15"/>
          <p:cNvSpPr txBox="1"/>
          <p:nvPr/>
        </p:nvSpPr>
        <p:spPr>
          <a:xfrm>
            <a:off x="9109710" y="2157984"/>
            <a:ext cx="2274570" cy="219456"/>
          </a:xfrm>
          <a:prstGeom prst="rect">
            <a:avLst/>
          </a:prstGeom>
          <a:noFill/>
          <a:ln/>
        </p:spPr>
        <p:txBody>
          <a:bodyPr wrap="square" lIns="0" tIns="0" rIns="0" bIns="0" rtlCol="0" anchor="ctr"/>
          <a:lstStyle/>
          <a:p>
            <a:pPr indent="0" marL="0">
              <a:buNone/>
            </a:pPr>
            <a:r>
              <a:rPr lang="en-US" sz="1000" b="1" spc="120" kern="0" dirty="0">
                <a:solidFill>
                  <a:srgbClr val="BFE4E4"/>
                </a:solidFill>
                <a:latin typeface="Calibri" pitchFamily="34" charset="0"/>
                <a:ea typeface="Calibri" pitchFamily="34" charset="-122"/>
                <a:cs typeface="Calibri" pitchFamily="34" charset="-120"/>
              </a:rPr>
              <a:t>CURRENT NAV</a:t>
            </a:r>
            <a:endParaRPr lang="en-US" sz="1000" dirty="0"/>
          </a:p>
        </p:txBody>
      </p:sp>
      <p:sp>
        <p:nvSpPr>
          <p:cNvPr id="18" name="Text 16"/>
          <p:cNvSpPr txBox="1"/>
          <p:nvPr/>
        </p:nvSpPr>
        <p:spPr>
          <a:xfrm>
            <a:off x="9109710" y="2395728"/>
            <a:ext cx="227457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$360M</a:t>
            </a:r>
            <a:endParaRPr lang="en-US" sz="2800" dirty="0"/>
          </a:p>
        </p:txBody>
      </p:sp>
      <p:sp>
        <p:nvSpPr>
          <p:cNvPr id="19" name="Text 17"/>
          <p:cNvSpPr txBox="1"/>
          <p:nvPr/>
        </p:nvSpPr>
        <p:spPr>
          <a:xfrm>
            <a:off x="9109710" y="2926080"/>
            <a:ext cx="2274570" cy="347472"/>
          </a:xfrm>
          <a:prstGeom prst="rect">
            <a:avLst/>
          </a:prstGeom>
          <a:noFill/>
          <a:ln/>
        </p:spPr>
        <p:txBody>
          <a:bodyPr wrap="square" lIns="0" tIns="0" rIns="0" bIns="0" rtlCol="0" anchor="ctr"/>
          <a:lstStyle/>
          <a:p>
            <a:pPr indent="0" marL="0">
              <a:buNone/>
            </a:pPr>
            <a:r>
              <a:rPr lang="en-US" sz="1100" dirty="0">
                <a:solidFill>
                  <a:srgbClr val="BFE4E4"/>
                </a:solidFill>
                <a:latin typeface="Calibri" pitchFamily="34" charset="0"/>
                <a:ea typeface="Calibri" pitchFamily="34" charset="-122"/>
                <a:cs typeface="Calibri" pitchFamily="34" charset="-120"/>
              </a:rPr>
              <a:t>carry 30% above ROC</a:t>
            </a:r>
            <a:endParaRPr lang="en-US" sz="1100" dirty="0"/>
          </a:p>
        </p:txBody>
      </p:sp>
      <p:sp>
        <p:nvSpPr>
          <p:cNvPr id="20" name="Text 18"/>
          <p:cNvSpPr txBox="1"/>
          <p:nvPr/>
        </p:nvSpPr>
        <p:spPr>
          <a:xfrm>
            <a:off x="594360" y="1627632"/>
            <a:ext cx="10607040" cy="274320"/>
          </a:xfrm>
          <a:prstGeom prst="rect">
            <a:avLst/>
          </a:prstGeom>
          <a:noFill/>
          <a:ln/>
        </p:spPr>
        <p:txBody>
          <a:bodyPr wrap="square" lIns="0" tIns="0" rIns="0" bIns="0" rtlCol="0" anchor="ctr"/>
          <a:lstStyle/>
          <a:p>
            <a:pPr indent="0" marL="0">
              <a:buNone/>
            </a:pPr>
            <a:r>
              <a:rPr lang="en-US" sz="1400" dirty="0">
                <a:solidFill>
                  <a:srgbClr val="3A4A50"/>
                </a:solidFill>
                <a:latin typeface="Calibri" pitchFamily="34" charset="0"/>
                <a:ea typeface="Calibri" pitchFamily="34" charset="-122"/>
                <a:cs typeface="Calibri" pitchFamily="34" charset="-120"/>
              </a:rPr>
              <a:t>$35.0M of LP capital is still outstanding, and the portfolio is carried at $360M.</a:t>
            </a:r>
            <a:endParaRPr lang="en-US" sz="1400" dirty="0"/>
          </a:p>
        </p:txBody>
      </p:sp>
      <p:sp>
        <p:nvSpPr>
          <p:cNvPr id="21" name="Text 19"/>
          <p:cNvSpPr txBox="1"/>
          <p:nvPr/>
        </p:nvSpPr>
        <p:spPr>
          <a:xfrm>
            <a:off x="594360" y="3703320"/>
            <a:ext cx="10972800" cy="256032"/>
          </a:xfrm>
          <a:prstGeom prst="rect">
            <a:avLst/>
          </a:prstGeom>
          <a:noFill/>
          <a:ln/>
        </p:spPr>
        <p:txBody>
          <a:bodyPr wrap="square" lIns="0" tIns="0" rIns="0" bIns="0" rtlCol="0" anchor="ctr"/>
          <a:lstStyle/>
          <a:p>
            <a:pPr indent="0" marL="0">
              <a:buNone/>
            </a:pPr>
            <a:r>
              <a:rPr lang="en-US" sz="1100" b="1" spc="120" kern="0" dirty="0">
                <a:solidFill>
                  <a:srgbClr val="6C7F85"/>
                </a:solidFill>
                <a:latin typeface="Calibri" pitchFamily="34" charset="0"/>
                <a:ea typeface="Calibri" pitchFamily="34" charset="-122"/>
                <a:cs typeface="Calibri" pitchFamily="34" charset="-120"/>
              </a:rPr>
              <a:t>Who owns the $325M of profit above the ROC, today</a:t>
            </a:r>
            <a:endParaRPr lang="en-US" sz="1100" dirty="0"/>
          </a:p>
        </p:txBody>
      </p:sp>
      <p:sp>
        <p:nvSpPr>
          <p:cNvPr id="22" name="Shape 20"/>
          <p:cNvSpPr/>
          <p:nvPr/>
        </p:nvSpPr>
        <p:spPr>
          <a:xfrm>
            <a:off x="594360" y="4005072"/>
            <a:ext cx="3445459" cy="868680"/>
          </a:xfrm>
          <a:prstGeom prst="rect">
            <a:avLst/>
          </a:prstGeom>
          <a:solidFill>
            <a:srgbClr val="0D6068"/>
          </a:solidFill>
          <a:ln/>
        </p:spPr>
      </p:sp>
      <p:sp>
        <p:nvSpPr>
          <p:cNvPr id="23" name="Text 21"/>
          <p:cNvSpPr txBox="1"/>
          <p:nvPr/>
        </p:nvSpPr>
        <p:spPr>
          <a:xfrm>
            <a:off x="704088" y="4059936"/>
            <a:ext cx="3226003" cy="3429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31.4%</a:t>
            </a:r>
            <a:endParaRPr lang="en-US" sz="1500" dirty="0"/>
          </a:p>
        </p:txBody>
      </p:sp>
      <p:sp>
        <p:nvSpPr>
          <p:cNvPr id="24" name="Text 22"/>
          <p:cNvSpPr txBox="1"/>
          <p:nvPr/>
        </p:nvSpPr>
        <p:spPr>
          <a:xfrm>
            <a:off x="704088" y="4457700"/>
            <a:ext cx="3226003" cy="361188"/>
          </a:xfrm>
          <a:prstGeom prst="rect">
            <a:avLst/>
          </a:prstGeom>
          <a:noFill/>
          <a:ln/>
        </p:spPr>
        <p:txBody>
          <a:bodyPr wrap="square" lIns="0" tIns="0" rIns="0" bIns="0" rtlCol="0" anchor="ctr"/>
          <a:lstStyle/>
          <a:p>
            <a:pPr indent="0" marL="0">
              <a:buNone/>
            </a:pPr>
            <a:r>
              <a:rPr lang="en-US" sz="1000" spc="80" kern="0" dirty="0">
                <a:solidFill>
                  <a:srgbClr val="FFFFFF"/>
                </a:solidFill>
                <a:latin typeface="Calibri" pitchFamily="34" charset="0"/>
                <a:ea typeface="Calibri" pitchFamily="34" charset="-122"/>
                <a:cs typeface="Calibri" pitchFamily="34" charset="-120"/>
              </a:rPr>
              <a:t>CLASS A · GP</a:t>
            </a:r>
            <a:endParaRPr lang="en-US" sz="1000" dirty="0"/>
          </a:p>
        </p:txBody>
      </p:sp>
      <p:sp>
        <p:nvSpPr>
          <p:cNvPr id="25" name="Shape 23"/>
          <p:cNvSpPr/>
          <p:nvPr/>
        </p:nvSpPr>
        <p:spPr>
          <a:xfrm>
            <a:off x="4039819" y="4005072"/>
            <a:ext cx="7527341" cy="868680"/>
          </a:xfrm>
          <a:prstGeom prst="rect">
            <a:avLst/>
          </a:prstGeom>
          <a:solidFill>
            <a:srgbClr val="7FA6A6"/>
          </a:solidFill>
          <a:ln/>
        </p:spPr>
      </p:sp>
      <p:sp>
        <p:nvSpPr>
          <p:cNvPr id="26" name="Text 24"/>
          <p:cNvSpPr txBox="1"/>
          <p:nvPr/>
        </p:nvSpPr>
        <p:spPr>
          <a:xfrm>
            <a:off x="4149547" y="4059936"/>
            <a:ext cx="7307885" cy="3429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68.6%</a:t>
            </a:r>
            <a:endParaRPr lang="en-US" sz="1500" dirty="0"/>
          </a:p>
        </p:txBody>
      </p:sp>
      <p:sp>
        <p:nvSpPr>
          <p:cNvPr id="27" name="Text 25"/>
          <p:cNvSpPr txBox="1"/>
          <p:nvPr/>
        </p:nvSpPr>
        <p:spPr>
          <a:xfrm>
            <a:off x="4149547" y="4457700"/>
            <a:ext cx="7307885" cy="361188"/>
          </a:xfrm>
          <a:prstGeom prst="rect">
            <a:avLst/>
          </a:prstGeom>
          <a:noFill/>
          <a:ln/>
        </p:spPr>
        <p:txBody>
          <a:bodyPr wrap="square" lIns="0" tIns="0" rIns="0" bIns="0" rtlCol="0" anchor="ctr"/>
          <a:lstStyle/>
          <a:p>
            <a:pPr indent="0" marL="0">
              <a:buNone/>
            </a:pPr>
            <a:r>
              <a:rPr lang="en-US" sz="1000" spc="80" kern="0" dirty="0">
                <a:solidFill>
                  <a:srgbClr val="FFFFFF"/>
                </a:solidFill>
                <a:latin typeface="Calibri" pitchFamily="34" charset="0"/>
                <a:ea typeface="Calibri" pitchFamily="34" charset="-122"/>
                <a:cs typeface="Calibri" pitchFamily="34" charset="-120"/>
              </a:rPr>
              <a:t>CLASS B · LPs</a:t>
            </a:r>
            <a:endParaRPr lang="en-US" sz="1000" dirty="0"/>
          </a:p>
        </p:txBody>
      </p:sp>
      <p:sp>
        <p:nvSpPr>
          <p:cNvPr id="28" name="Text 26"/>
          <p:cNvSpPr txBox="1"/>
          <p:nvPr/>
        </p:nvSpPr>
        <p:spPr>
          <a:xfrm>
            <a:off x="594360" y="5138928"/>
            <a:ext cx="10607040" cy="91440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The GP's 31.4% is its 2% commitment plus 30% carry on the LPs' 98% — and it is 31.4% at any profit level, because there is one 1x hurdle and no catch-up tiers. That is what lets the rest of this deck use flat ratios instead of a tiered waterfall.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WHAT NLP WANTS</a:t>
            </a:r>
            <a:endParaRPr lang="en-US" sz="1100" dirty="0"/>
          </a:p>
        </p:txBody>
      </p:sp>
      <p:sp>
        <p:nvSpPr>
          <p:cNvPr id="3" name="Shape 1"/>
          <p:cNvSpPr/>
          <p:nvPr/>
        </p:nvSpPr>
        <p:spPr>
          <a:xfrm>
            <a:off x="594360" y="1051560"/>
            <a:ext cx="32004" cy="1965960"/>
          </a:xfrm>
          <a:prstGeom prst="rect">
            <a:avLst/>
          </a:prstGeom>
          <a:solidFill>
            <a:srgbClr val="0D6068"/>
          </a:solidFill>
          <a:ln/>
        </p:spPr>
      </p:sp>
      <p:sp>
        <p:nvSpPr>
          <p:cNvPr id="4" name="Text 2"/>
          <p:cNvSpPr txBox="1"/>
          <p:nvPr/>
        </p:nvSpPr>
        <p:spPr>
          <a:xfrm>
            <a:off x="850392" y="1051560"/>
            <a:ext cx="7863840" cy="1828800"/>
          </a:xfrm>
          <a:prstGeom prst="rect">
            <a:avLst/>
          </a:prstGeom>
          <a:noFill/>
          <a:ln/>
        </p:spPr>
        <p:txBody>
          <a:bodyPr wrap="square" lIns="0" tIns="0" rIns="0" bIns="0" rtlCol="0" anchor="ctr"/>
          <a:lstStyle/>
          <a:p>
            <a:pPr indent="0" marL="0">
              <a:lnSpc>
                <a:spcPts val="3600"/>
              </a:lnSpc>
              <a:buNone/>
            </a:pPr>
            <a:r>
              <a:rPr lang="en-US" sz="2400" i="1" dirty="0">
                <a:solidFill>
                  <a:srgbClr val="0F1E22"/>
                </a:solidFill>
                <a:latin typeface="Cambria" pitchFamily="34" charset="0"/>
                <a:ea typeface="Cambria" pitchFamily="34" charset="-122"/>
                <a:cs typeface="Cambria" pitchFamily="34" charset="-120"/>
              </a:rPr>
              <a:t>“NLP would like to purchase $35M worth of equity from the ClassB shareholders at a 35% discount — provided they get their 1x back and subsequently participate pari-passu with other ClassB shareholders.”</a:t>
            </a:r>
            <a:endParaRPr lang="en-US" sz="2400" dirty="0"/>
          </a:p>
        </p:txBody>
      </p:sp>
      <p:sp>
        <p:nvSpPr>
          <p:cNvPr id="5" name="Text 3"/>
          <p:cNvSpPr txBox="1"/>
          <p:nvPr/>
        </p:nvSpPr>
        <p:spPr>
          <a:xfrm>
            <a:off x="850392" y="2926080"/>
            <a:ext cx="5486400" cy="237744"/>
          </a:xfrm>
          <a:prstGeom prst="rect">
            <a:avLst/>
          </a:prstGeom>
          <a:noFill/>
          <a:ln/>
        </p:spPr>
        <p:txBody>
          <a:bodyPr wrap="square" lIns="0" tIns="0" rIns="0" bIns="0" rtlCol="0" anchor="ctr"/>
          <a:lstStyle/>
          <a:p>
            <a:pPr indent="0" marL="0">
              <a:buNone/>
            </a:pPr>
            <a:r>
              <a:rPr lang="en-US" sz="1000" b="1" spc="140" kern="0" dirty="0">
                <a:solidFill>
                  <a:srgbClr val="6C7F85"/>
                </a:solidFill>
                <a:latin typeface="Calibri" pitchFamily="34" charset="0"/>
                <a:ea typeface="Calibri" pitchFamily="34" charset="-122"/>
                <a:cs typeface="Calibri" pitchFamily="34" charset="-120"/>
              </a:rPr>
              <a:t>SOURCE DOCUMENT</a:t>
            </a:r>
            <a:endParaRPr lang="en-US" sz="1000" dirty="0"/>
          </a:p>
        </p:txBody>
      </p:sp>
      <p:sp>
        <p:nvSpPr>
          <p:cNvPr id="6" name="Shape 4"/>
          <p:cNvSpPr/>
          <p:nvPr/>
        </p:nvSpPr>
        <p:spPr>
          <a:xfrm>
            <a:off x="594360" y="3794760"/>
            <a:ext cx="457200" cy="457200"/>
          </a:xfrm>
          <a:prstGeom prst="ellipse">
            <a:avLst/>
          </a:prstGeom>
          <a:solidFill>
            <a:srgbClr val="0D6068"/>
          </a:solidFill>
          <a:ln/>
        </p:spPr>
      </p:sp>
      <p:sp>
        <p:nvSpPr>
          <p:cNvPr id="7" name="Text 5"/>
          <p:cNvSpPr txBox="1"/>
          <p:nvPr/>
        </p:nvSpPr>
        <p:spPr>
          <a:xfrm>
            <a:off x="594360" y="3877056"/>
            <a:ext cx="45720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252728" y="3776472"/>
            <a:ext cx="3840480" cy="292608"/>
          </a:xfrm>
          <a:prstGeom prst="rect">
            <a:avLst/>
          </a:prstGeom>
          <a:noFill/>
          <a:ln/>
        </p:spPr>
        <p:txBody>
          <a:bodyPr wrap="square" lIns="0" tIns="0" rIns="0" bIns="0" rtlCol="0" anchor="ctr"/>
          <a:lstStyle/>
          <a:p>
            <a:pPr indent="0" marL="0">
              <a:buNone/>
            </a:pPr>
            <a:r>
              <a:rPr lang="en-US" sz="1600" b="1" dirty="0">
                <a:solidFill>
                  <a:srgbClr val="0F1E22"/>
                </a:solidFill>
                <a:latin typeface="Calibri" pitchFamily="34" charset="0"/>
                <a:ea typeface="Calibri" pitchFamily="34" charset="-122"/>
                <a:cs typeface="Calibri" pitchFamily="34" charset="-120"/>
              </a:rPr>
              <a:t>A discount</a:t>
            </a:r>
            <a:endParaRPr lang="en-US" sz="1600" dirty="0"/>
          </a:p>
        </p:txBody>
      </p:sp>
      <p:sp>
        <p:nvSpPr>
          <p:cNvPr id="9" name="Text 7"/>
          <p:cNvSpPr txBox="1"/>
          <p:nvPr/>
        </p:nvSpPr>
        <p:spPr>
          <a:xfrm>
            <a:off x="1252728" y="4041648"/>
            <a:ext cx="5943600" cy="274320"/>
          </a:xfrm>
          <a:prstGeom prst="rect">
            <a:avLst/>
          </a:prstGeom>
          <a:noFill/>
          <a:ln/>
        </p:spPr>
        <p:txBody>
          <a:bodyPr wrap="square" lIns="0" tIns="0" rIns="0" bIns="0" rtlCol="0" anchor="ctr"/>
          <a:lstStyle/>
          <a:p>
            <a:pPr indent="0" marL="0">
              <a:buNone/>
            </a:pPr>
            <a:r>
              <a:rPr lang="en-US" sz="1300" dirty="0">
                <a:solidFill>
                  <a:srgbClr val="6C7F85"/>
                </a:solidFill>
                <a:latin typeface="Calibri" pitchFamily="34" charset="0"/>
                <a:ea typeface="Calibri" pitchFamily="34" charset="-122"/>
                <a:cs typeface="Calibri" pitchFamily="34" charset="-120"/>
              </a:rPr>
              <a:t>how much NLP gets for its $35M</a:t>
            </a:r>
            <a:endParaRPr lang="en-US" sz="1300" dirty="0"/>
          </a:p>
        </p:txBody>
      </p:sp>
      <p:sp>
        <p:nvSpPr>
          <p:cNvPr id="10" name="Shape 8"/>
          <p:cNvSpPr/>
          <p:nvPr/>
        </p:nvSpPr>
        <p:spPr>
          <a:xfrm>
            <a:off x="594360" y="4636008"/>
            <a:ext cx="457200" cy="457200"/>
          </a:xfrm>
          <a:prstGeom prst="ellipse">
            <a:avLst/>
          </a:prstGeom>
          <a:solidFill>
            <a:srgbClr val="0D6068"/>
          </a:solidFill>
          <a:ln/>
        </p:spPr>
      </p:sp>
      <p:sp>
        <p:nvSpPr>
          <p:cNvPr id="11" name="Text 9"/>
          <p:cNvSpPr txBox="1"/>
          <p:nvPr/>
        </p:nvSpPr>
        <p:spPr>
          <a:xfrm>
            <a:off x="594360" y="4718304"/>
            <a:ext cx="45720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252728" y="4617720"/>
            <a:ext cx="3840480" cy="292608"/>
          </a:xfrm>
          <a:prstGeom prst="rect">
            <a:avLst/>
          </a:prstGeom>
          <a:noFill/>
          <a:ln/>
        </p:spPr>
        <p:txBody>
          <a:bodyPr wrap="square" lIns="0" tIns="0" rIns="0" bIns="0" rtlCol="0" anchor="ctr"/>
          <a:lstStyle/>
          <a:p>
            <a:pPr indent="0" marL="0">
              <a:buNone/>
            </a:pPr>
            <a:r>
              <a:rPr lang="en-US" sz="1600" b="1" dirty="0">
                <a:solidFill>
                  <a:srgbClr val="0F1E22"/>
                </a:solidFill>
                <a:latin typeface="Calibri" pitchFamily="34" charset="0"/>
                <a:ea typeface="Calibri" pitchFamily="34" charset="-122"/>
                <a:cs typeface="Calibri" pitchFamily="34" charset="-120"/>
              </a:rPr>
              <a:t>1x back first</a:t>
            </a:r>
            <a:endParaRPr lang="en-US" sz="1600" dirty="0"/>
          </a:p>
        </p:txBody>
      </p:sp>
      <p:sp>
        <p:nvSpPr>
          <p:cNvPr id="13" name="Text 11"/>
          <p:cNvSpPr txBox="1"/>
          <p:nvPr/>
        </p:nvSpPr>
        <p:spPr>
          <a:xfrm>
            <a:off x="1252728" y="4882896"/>
            <a:ext cx="5943600" cy="274320"/>
          </a:xfrm>
          <a:prstGeom prst="rect">
            <a:avLst/>
          </a:prstGeom>
          <a:noFill/>
          <a:ln/>
        </p:spPr>
        <p:txBody>
          <a:bodyPr wrap="square" lIns="0" tIns="0" rIns="0" bIns="0" rtlCol="0" anchor="ctr"/>
          <a:lstStyle/>
          <a:p>
            <a:pPr indent="0" marL="0">
              <a:buNone/>
            </a:pPr>
            <a:r>
              <a:rPr lang="en-US" sz="1300" dirty="0">
                <a:solidFill>
                  <a:srgbClr val="6C7F85"/>
                </a:solidFill>
                <a:latin typeface="Calibri" pitchFamily="34" charset="0"/>
                <a:ea typeface="Calibri" pitchFamily="34" charset="-122"/>
                <a:cs typeface="Calibri" pitchFamily="34" charset="-120"/>
              </a:rPr>
              <a:t>when it gets it</a:t>
            </a:r>
            <a:endParaRPr lang="en-US" sz="1300" dirty="0"/>
          </a:p>
        </p:txBody>
      </p:sp>
      <p:sp>
        <p:nvSpPr>
          <p:cNvPr id="14" name="Shape 12"/>
          <p:cNvSpPr/>
          <p:nvPr/>
        </p:nvSpPr>
        <p:spPr>
          <a:xfrm>
            <a:off x="594360" y="5477256"/>
            <a:ext cx="457200" cy="457200"/>
          </a:xfrm>
          <a:prstGeom prst="ellipse">
            <a:avLst/>
          </a:prstGeom>
          <a:solidFill>
            <a:srgbClr val="0D6068"/>
          </a:solidFill>
          <a:ln/>
        </p:spPr>
      </p:sp>
      <p:sp>
        <p:nvSpPr>
          <p:cNvPr id="15" name="Text 13"/>
          <p:cNvSpPr txBox="1"/>
          <p:nvPr/>
        </p:nvSpPr>
        <p:spPr>
          <a:xfrm>
            <a:off x="594360" y="5559552"/>
            <a:ext cx="457200"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txBox="1"/>
          <p:nvPr/>
        </p:nvSpPr>
        <p:spPr>
          <a:xfrm>
            <a:off x="1252728" y="5458968"/>
            <a:ext cx="3840480" cy="292608"/>
          </a:xfrm>
          <a:prstGeom prst="rect">
            <a:avLst/>
          </a:prstGeom>
          <a:noFill/>
          <a:ln/>
        </p:spPr>
        <p:txBody>
          <a:bodyPr wrap="square" lIns="0" tIns="0" rIns="0" bIns="0" rtlCol="0" anchor="ctr"/>
          <a:lstStyle/>
          <a:p>
            <a:pPr indent="0" marL="0">
              <a:buNone/>
            </a:pPr>
            <a:r>
              <a:rPr lang="en-US" sz="1600" b="1" dirty="0">
                <a:solidFill>
                  <a:srgbClr val="0F1E22"/>
                </a:solidFill>
                <a:latin typeface="Calibri" pitchFamily="34" charset="0"/>
                <a:ea typeface="Calibri" pitchFamily="34" charset="-122"/>
                <a:cs typeface="Calibri" pitchFamily="34" charset="-120"/>
              </a:rPr>
              <a:t>Pari passu after</a:t>
            </a:r>
            <a:endParaRPr lang="en-US" sz="1600" dirty="0"/>
          </a:p>
        </p:txBody>
      </p:sp>
      <p:sp>
        <p:nvSpPr>
          <p:cNvPr id="17" name="Text 15"/>
          <p:cNvSpPr txBox="1"/>
          <p:nvPr/>
        </p:nvSpPr>
        <p:spPr>
          <a:xfrm>
            <a:off x="1252728" y="5724144"/>
            <a:ext cx="5943600" cy="274320"/>
          </a:xfrm>
          <a:prstGeom prst="rect">
            <a:avLst/>
          </a:prstGeom>
          <a:noFill/>
          <a:ln/>
        </p:spPr>
        <p:txBody>
          <a:bodyPr wrap="square" lIns="0" tIns="0" rIns="0" bIns="0" rtlCol="0" anchor="ctr"/>
          <a:lstStyle/>
          <a:p>
            <a:pPr indent="0" marL="0">
              <a:buNone/>
            </a:pPr>
            <a:r>
              <a:rPr lang="en-US" sz="1300" dirty="0">
                <a:solidFill>
                  <a:srgbClr val="6C7F85"/>
                </a:solidFill>
                <a:latin typeface="Calibri" pitchFamily="34" charset="0"/>
                <a:ea typeface="Calibri" pitchFamily="34" charset="-122"/>
                <a:cs typeface="Calibri" pitchFamily="34" charset="-120"/>
              </a:rPr>
              <a:t>what happens once it is whole</a:t>
            </a:r>
            <a:endParaRPr lang="en-US" sz="1300" dirty="0"/>
          </a:p>
        </p:txBody>
      </p:sp>
      <p:sp>
        <p:nvSpPr>
          <p:cNvPr id="18" name="Text 16"/>
          <p:cNvSpPr txBox="1"/>
          <p:nvPr/>
        </p:nvSpPr>
        <p:spPr>
          <a:xfrm>
            <a:off x="7315200" y="4297680"/>
            <a:ext cx="4206240" cy="1097280"/>
          </a:xfrm>
          <a:prstGeom prst="rect">
            <a:avLst/>
          </a:prstGeom>
          <a:noFill/>
          <a:ln/>
        </p:spPr>
        <p:txBody>
          <a:bodyPr wrap="square" lIns="0" tIns="0" rIns="0" bIns="0" rtlCol="0" anchor="ctr"/>
          <a:lstStyle/>
          <a:p>
            <a:pPr indent="0" marL="0">
              <a:lnSpc>
                <a:spcPts val="3000"/>
              </a:lnSpc>
              <a:buNone/>
            </a:pPr>
            <a:r>
              <a:rPr lang="en-US" sz="2000" i="1" dirty="0">
                <a:solidFill>
                  <a:srgbClr val="0D6068"/>
                </a:solidFill>
                <a:latin typeface="Cambria" pitchFamily="34" charset="0"/>
                <a:ea typeface="Cambria" pitchFamily="34" charset="-122"/>
                <a:cs typeface="Cambria" pitchFamily="34" charset="-120"/>
              </a:rPr>
              <a:t>Three things at once — and each one shapes the flow.</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1 · HOW THE DISCOUNT BECOMES A PERCENTAGE</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$35M at a 35% discount buys 14.1% of all future profit</a:t>
            </a:r>
            <a:endParaRPr lang="en-US" sz="3000" dirty="0"/>
          </a:p>
        </p:txBody>
      </p:sp>
      <p:sp>
        <p:nvSpPr>
          <p:cNvPr id="4" name="Shape 2"/>
          <p:cNvSpPr/>
          <p:nvPr/>
        </p:nvSpPr>
        <p:spPr>
          <a:xfrm>
            <a:off x="594360" y="1783080"/>
            <a:ext cx="10972800" cy="640080"/>
          </a:xfrm>
          <a:prstGeom prst="roundRect">
            <a:avLst>
              <a:gd name="adj" fmla="val 4286"/>
            </a:avLst>
          </a:prstGeom>
          <a:solidFill>
            <a:srgbClr val="F1F4F4"/>
          </a:solidFill>
          <a:ln w="12700">
            <a:solidFill>
              <a:srgbClr val="D5DCDD"/>
            </a:solidFill>
            <a:prstDash val="solid"/>
          </a:ln>
        </p:spPr>
      </p:sp>
      <p:sp>
        <p:nvSpPr>
          <p:cNvPr id="5" name="Text 3"/>
          <p:cNvSpPr txBox="1"/>
          <p:nvPr/>
        </p:nvSpPr>
        <p:spPr>
          <a:xfrm>
            <a:off x="795528" y="1965960"/>
            <a:ext cx="320040" cy="274320"/>
          </a:xfrm>
          <a:prstGeom prst="rect">
            <a:avLst/>
          </a:prstGeom>
          <a:noFill/>
          <a:ln/>
        </p:spPr>
        <p:txBody>
          <a:bodyPr wrap="square" lIns="0" tIns="0" rIns="0" bIns="0" rtlCol="0" anchor="ctr"/>
          <a:lstStyle/>
          <a:p>
            <a:pPr indent="0" marL="0">
              <a:buNone/>
            </a:pPr>
            <a:r>
              <a:rPr lang="en-US" sz="1300" b="1" dirty="0">
                <a:solidFill>
                  <a:srgbClr val="0D6068"/>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161288" y="1947672"/>
            <a:ext cx="8046720" cy="320040"/>
          </a:xfrm>
          <a:prstGeom prst="rect">
            <a:avLst/>
          </a:prstGeom>
          <a:noFill/>
          <a:ln/>
        </p:spPr>
        <p:txBody>
          <a:bodyPr wrap="square" lIns="0" tIns="0" rIns="0" bIns="0" rtlCol="0" anchor="ctr"/>
          <a:lstStyle/>
          <a:p>
            <a:pPr indent="0" marL="0">
              <a:buNone/>
            </a:pPr>
            <a:r>
              <a:rPr lang="en-US" sz="1400" dirty="0">
                <a:solidFill>
                  <a:srgbClr val="3A4A50"/>
                </a:solidFill>
                <a:latin typeface="Calibri" pitchFamily="34" charset="0"/>
                <a:ea typeface="Calibri" pitchFamily="34" charset="-122"/>
                <a:cs typeface="Calibri" pitchFamily="34" charset="-120"/>
              </a:rPr>
              <a:t>Profit above the ROC — the pool being split</a:t>
            </a:r>
            <a:endParaRPr lang="en-US" sz="1400" dirty="0"/>
          </a:p>
        </p:txBody>
      </p:sp>
      <p:sp>
        <p:nvSpPr>
          <p:cNvPr id="7" name="Text 5"/>
          <p:cNvSpPr txBox="1"/>
          <p:nvPr/>
        </p:nvSpPr>
        <p:spPr>
          <a:xfrm>
            <a:off x="9372600" y="1920240"/>
            <a:ext cx="2011680" cy="365760"/>
          </a:xfrm>
          <a:prstGeom prst="rect">
            <a:avLst/>
          </a:prstGeom>
          <a:noFill/>
          <a:ln/>
        </p:spPr>
        <p:txBody>
          <a:bodyPr wrap="square" lIns="0" tIns="0" rIns="0" bIns="0" rtlCol="0" anchor="ctr"/>
          <a:lstStyle/>
          <a:p>
            <a:pPr algn="r" indent="0" marL="0">
              <a:buNone/>
            </a:pPr>
            <a:r>
              <a:rPr lang="en-US" sz="1900" b="1" dirty="0">
                <a:solidFill>
                  <a:srgbClr val="0F1E22"/>
                </a:solidFill>
                <a:latin typeface="Cambria" pitchFamily="34" charset="0"/>
                <a:ea typeface="Cambria" pitchFamily="34" charset="-122"/>
                <a:cs typeface="Cambria" pitchFamily="34" charset="-120"/>
              </a:rPr>
              <a:t>$325.00M</a:t>
            </a:r>
            <a:endParaRPr lang="en-US" sz="1900" dirty="0"/>
          </a:p>
        </p:txBody>
      </p:sp>
      <p:sp>
        <p:nvSpPr>
          <p:cNvPr id="8" name="Shape 6"/>
          <p:cNvSpPr/>
          <p:nvPr/>
        </p:nvSpPr>
        <p:spPr>
          <a:xfrm>
            <a:off x="594360" y="2551176"/>
            <a:ext cx="10972800" cy="640080"/>
          </a:xfrm>
          <a:prstGeom prst="roundRect">
            <a:avLst>
              <a:gd name="adj" fmla="val 4286"/>
            </a:avLst>
          </a:prstGeom>
          <a:solidFill>
            <a:srgbClr val="F1F4F4"/>
          </a:solidFill>
          <a:ln w="12700">
            <a:solidFill>
              <a:srgbClr val="D5DCDD"/>
            </a:solidFill>
            <a:prstDash val="solid"/>
          </a:ln>
        </p:spPr>
      </p:sp>
      <p:sp>
        <p:nvSpPr>
          <p:cNvPr id="9" name="Text 7"/>
          <p:cNvSpPr txBox="1"/>
          <p:nvPr/>
        </p:nvSpPr>
        <p:spPr>
          <a:xfrm>
            <a:off x="795528" y="2734056"/>
            <a:ext cx="320040" cy="274320"/>
          </a:xfrm>
          <a:prstGeom prst="rect">
            <a:avLst/>
          </a:prstGeom>
          <a:noFill/>
          <a:ln/>
        </p:spPr>
        <p:txBody>
          <a:bodyPr wrap="square" lIns="0" tIns="0" rIns="0" bIns="0" rtlCol="0" anchor="ctr"/>
          <a:lstStyle/>
          <a:p>
            <a:pPr indent="0" marL="0">
              <a:buNone/>
            </a:pPr>
            <a:r>
              <a:rPr lang="en-US" sz="1300" b="1" dirty="0">
                <a:solidFill>
                  <a:srgbClr val="0D6068"/>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715768"/>
            <a:ext cx="8046720" cy="320040"/>
          </a:xfrm>
          <a:prstGeom prst="rect">
            <a:avLst/>
          </a:prstGeom>
          <a:noFill/>
          <a:ln/>
        </p:spPr>
        <p:txBody>
          <a:bodyPr wrap="square" lIns="0" tIns="0" rIns="0" bIns="0" rtlCol="0" anchor="ctr"/>
          <a:lstStyle/>
          <a:p>
            <a:pPr indent="0" marL="0">
              <a:buNone/>
            </a:pPr>
            <a:r>
              <a:rPr lang="en-US" sz="1400" dirty="0">
                <a:solidFill>
                  <a:srgbClr val="3A4A50"/>
                </a:solidFill>
                <a:latin typeface="Calibri" pitchFamily="34" charset="0"/>
                <a:ea typeface="Calibri" pitchFamily="34" charset="-122"/>
                <a:cs typeface="Calibri" pitchFamily="34" charset="-120"/>
              </a:rPr>
              <a:t>…less the GP's 31.4%, plus the LPs' unreturned capital = LP NAV</a:t>
            </a:r>
            <a:endParaRPr lang="en-US" sz="1400" dirty="0"/>
          </a:p>
        </p:txBody>
      </p:sp>
      <p:sp>
        <p:nvSpPr>
          <p:cNvPr id="11" name="Text 9"/>
          <p:cNvSpPr txBox="1"/>
          <p:nvPr/>
        </p:nvSpPr>
        <p:spPr>
          <a:xfrm>
            <a:off x="9372600" y="2688336"/>
            <a:ext cx="2011680" cy="365760"/>
          </a:xfrm>
          <a:prstGeom prst="rect">
            <a:avLst/>
          </a:prstGeom>
          <a:noFill/>
          <a:ln/>
        </p:spPr>
        <p:txBody>
          <a:bodyPr wrap="square" lIns="0" tIns="0" rIns="0" bIns="0" rtlCol="0" anchor="ctr"/>
          <a:lstStyle/>
          <a:p>
            <a:pPr algn="r" indent="0" marL="0">
              <a:buNone/>
            </a:pPr>
            <a:r>
              <a:rPr lang="en-US" sz="1900" b="1" dirty="0">
                <a:solidFill>
                  <a:srgbClr val="0F1E22"/>
                </a:solidFill>
                <a:latin typeface="Cambria" pitchFamily="34" charset="0"/>
                <a:ea typeface="Cambria" pitchFamily="34" charset="-122"/>
                <a:cs typeface="Cambria" pitchFamily="34" charset="-120"/>
              </a:rPr>
              <a:t>$257.3M</a:t>
            </a:r>
            <a:endParaRPr lang="en-US" sz="1900" dirty="0"/>
          </a:p>
        </p:txBody>
      </p:sp>
      <p:sp>
        <p:nvSpPr>
          <p:cNvPr id="12" name="Shape 10"/>
          <p:cNvSpPr/>
          <p:nvPr/>
        </p:nvSpPr>
        <p:spPr>
          <a:xfrm>
            <a:off x="594360" y="3319272"/>
            <a:ext cx="10972800" cy="640080"/>
          </a:xfrm>
          <a:prstGeom prst="roundRect">
            <a:avLst>
              <a:gd name="adj" fmla="val 4286"/>
            </a:avLst>
          </a:prstGeom>
          <a:solidFill>
            <a:srgbClr val="F1F4F4"/>
          </a:solidFill>
          <a:ln w="12700">
            <a:solidFill>
              <a:srgbClr val="D5DCDD"/>
            </a:solidFill>
            <a:prstDash val="solid"/>
          </a:ln>
        </p:spPr>
      </p:sp>
      <p:sp>
        <p:nvSpPr>
          <p:cNvPr id="13" name="Text 11"/>
          <p:cNvSpPr txBox="1"/>
          <p:nvPr/>
        </p:nvSpPr>
        <p:spPr>
          <a:xfrm>
            <a:off x="795528" y="3502152"/>
            <a:ext cx="320040" cy="274320"/>
          </a:xfrm>
          <a:prstGeom prst="rect">
            <a:avLst/>
          </a:prstGeom>
          <a:noFill/>
          <a:ln/>
        </p:spPr>
        <p:txBody>
          <a:bodyPr wrap="square" lIns="0" tIns="0" rIns="0" bIns="0" rtlCol="0" anchor="ctr"/>
          <a:lstStyle/>
          <a:p>
            <a:pPr indent="0" marL="0">
              <a:buNone/>
            </a:pPr>
            <a:r>
              <a:rPr lang="en-US" sz="1300" b="1" dirty="0">
                <a:solidFill>
                  <a:srgbClr val="0D606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61288" y="3483864"/>
            <a:ext cx="8046720" cy="320040"/>
          </a:xfrm>
          <a:prstGeom prst="rect">
            <a:avLst/>
          </a:prstGeom>
          <a:noFill/>
          <a:ln/>
        </p:spPr>
        <p:txBody>
          <a:bodyPr wrap="square" lIns="0" tIns="0" rIns="0" bIns="0" rtlCol="0" anchor="ctr"/>
          <a:lstStyle/>
          <a:p>
            <a:pPr indent="0" marL="0">
              <a:buNone/>
            </a:pPr>
            <a:r>
              <a:rPr lang="en-US" sz="1400" dirty="0">
                <a:solidFill>
                  <a:srgbClr val="3A4A50"/>
                </a:solidFill>
                <a:latin typeface="Calibri" pitchFamily="34" charset="0"/>
                <a:ea typeface="Calibri" pitchFamily="34" charset="-122"/>
                <a:cs typeface="Calibri" pitchFamily="34" charset="-120"/>
              </a:rPr>
              <a:t>$35M as a share of that LP NAV</a:t>
            </a:r>
            <a:endParaRPr lang="en-US" sz="1400" dirty="0"/>
          </a:p>
        </p:txBody>
      </p:sp>
      <p:sp>
        <p:nvSpPr>
          <p:cNvPr id="15" name="Text 13"/>
          <p:cNvSpPr txBox="1"/>
          <p:nvPr/>
        </p:nvSpPr>
        <p:spPr>
          <a:xfrm>
            <a:off x="9372600" y="3456432"/>
            <a:ext cx="2011680" cy="365760"/>
          </a:xfrm>
          <a:prstGeom prst="rect">
            <a:avLst/>
          </a:prstGeom>
          <a:noFill/>
          <a:ln/>
        </p:spPr>
        <p:txBody>
          <a:bodyPr wrap="square" lIns="0" tIns="0" rIns="0" bIns="0" rtlCol="0" anchor="ctr"/>
          <a:lstStyle/>
          <a:p>
            <a:pPr algn="r" indent="0" marL="0">
              <a:buNone/>
            </a:pPr>
            <a:r>
              <a:rPr lang="en-US" sz="1900" b="1" dirty="0">
                <a:solidFill>
                  <a:srgbClr val="0F1E22"/>
                </a:solidFill>
                <a:latin typeface="Cambria" pitchFamily="34" charset="0"/>
                <a:ea typeface="Cambria" pitchFamily="34" charset="-122"/>
                <a:cs typeface="Cambria" pitchFamily="34" charset="-120"/>
              </a:rPr>
              <a:t>13.6%</a:t>
            </a:r>
            <a:endParaRPr lang="en-US" sz="1900" dirty="0"/>
          </a:p>
        </p:txBody>
      </p:sp>
      <p:sp>
        <p:nvSpPr>
          <p:cNvPr id="16" name="Shape 14"/>
          <p:cNvSpPr/>
          <p:nvPr/>
        </p:nvSpPr>
        <p:spPr>
          <a:xfrm>
            <a:off x="594360" y="4087368"/>
            <a:ext cx="10972800" cy="640080"/>
          </a:xfrm>
          <a:prstGeom prst="roundRect">
            <a:avLst>
              <a:gd name="adj" fmla="val 4286"/>
            </a:avLst>
          </a:prstGeom>
          <a:solidFill>
            <a:srgbClr val="F1F4F4"/>
          </a:solidFill>
          <a:ln w="12700">
            <a:solidFill>
              <a:srgbClr val="D5DCDD"/>
            </a:solidFill>
            <a:prstDash val="solid"/>
          </a:ln>
        </p:spPr>
      </p:sp>
      <p:sp>
        <p:nvSpPr>
          <p:cNvPr id="17" name="Text 15"/>
          <p:cNvSpPr txBox="1"/>
          <p:nvPr/>
        </p:nvSpPr>
        <p:spPr>
          <a:xfrm>
            <a:off x="795528" y="4270248"/>
            <a:ext cx="320040" cy="274320"/>
          </a:xfrm>
          <a:prstGeom prst="rect">
            <a:avLst/>
          </a:prstGeom>
          <a:noFill/>
          <a:ln/>
        </p:spPr>
        <p:txBody>
          <a:bodyPr wrap="square" lIns="0" tIns="0" rIns="0" bIns="0" rtlCol="0" anchor="ctr"/>
          <a:lstStyle/>
          <a:p>
            <a:pPr indent="0" marL="0">
              <a:buNone/>
            </a:pPr>
            <a:r>
              <a:rPr lang="en-US" sz="1300" b="1" dirty="0">
                <a:solidFill>
                  <a:srgbClr val="0D6068"/>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161288" y="4251960"/>
            <a:ext cx="8046720" cy="320040"/>
          </a:xfrm>
          <a:prstGeom prst="rect">
            <a:avLst/>
          </a:prstGeom>
          <a:noFill/>
          <a:ln/>
        </p:spPr>
        <p:txBody>
          <a:bodyPr wrap="square" lIns="0" tIns="0" rIns="0" bIns="0" rtlCol="0" anchor="ctr"/>
          <a:lstStyle/>
          <a:p>
            <a:pPr indent="0" marL="0">
              <a:buNone/>
            </a:pPr>
            <a:r>
              <a:rPr lang="en-US" sz="1400" dirty="0">
                <a:solidFill>
                  <a:srgbClr val="3A4A50"/>
                </a:solidFill>
                <a:latin typeface="Calibri" pitchFamily="34" charset="0"/>
                <a:ea typeface="Calibri" pitchFamily="34" charset="-122"/>
                <a:cs typeface="Calibri" pitchFamily="34" charset="-120"/>
              </a:rPr>
              <a:t>…grossed up for the 35% discount — what NLP gets of the LP</a:t>
            </a:r>
            <a:endParaRPr lang="en-US" sz="1400" dirty="0"/>
          </a:p>
        </p:txBody>
      </p:sp>
      <p:sp>
        <p:nvSpPr>
          <p:cNvPr id="19" name="Text 17"/>
          <p:cNvSpPr txBox="1"/>
          <p:nvPr/>
        </p:nvSpPr>
        <p:spPr>
          <a:xfrm>
            <a:off x="9372600" y="4224528"/>
            <a:ext cx="2011680" cy="365760"/>
          </a:xfrm>
          <a:prstGeom prst="rect">
            <a:avLst/>
          </a:prstGeom>
          <a:noFill/>
          <a:ln/>
        </p:spPr>
        <p:txBody>
          <a:bodyPr wrap="square" lIns="0" tIns="0" rIns="0" bIns="0" rtlCol="0" anchor="ctr"/>
          <a:lstStyle/>
          <a:p>
            <a:pPr algn="r" indent="0" marL="0">
              <a:buNone/>
            </a:pPr>
            <a:r>
              <a:rPr lang="en-US" sz="1900" b="1" dirty="0">
                <a:solidFill>
                  <a:srgbClr val="0F1E22"/>
                </a:solidFill>
                <a:latin typeface="Cambria" pitchFamily="34" charset="0"/>
                <a:ea typeface="Cambria" pitchFamily="34" charset="-122"/>
                <a:cs typeface="Cambria" pitchFamily="34" charset="-120"/>
              </a:rPr>
              <a:t>20.9%</a:t>
            </a:r>
            <a:endParaRPr lang="en-US" sz="1900" dirty="0"/>
          </a:p>
        </p:txBody>
      </p:sp>
      <p:sp>
        <p:nvSpPr>
          <p:cNvPr id="20" name="Shape 18"/>
          <p:cNvSpPr/>
          <p:nvPr/>
        </p:nvSpPr>
        <p:spPr>
          <a:xfrm>
            <a:off x="594360" y="4855464"/>
            <a:ext cx="10972800" cy="640080"/>
          </a:xfrm>
          <a:prstGeom prst="roundRect">
            <a:avLst>
              <a:gd name="adj" fmla="val 4286"/>
            </a:avLst>
          </a:prstGeom>
          <a:solidFill>
            <a:srgbClr val="DCECEB"/>
          </a:solidFill>
          <a:ln w="12700">
            <a:solidFill>
              <a:srgbClr val="0D6068"/>
            </a:solidFill>
            <a:prstDash val="solid"/>
          </a:ln>
        </p:spPr>
      </p:sp>
      <p:sp>
        <p:nvSpPr>
          <p:cNvPr id="21" name="Text 19"/>
          <p:cNvSpPr txBox="1"/>
          <p:nvPr/>
        </p:nvSpPr>
        <p:spPr>
          <a:xfrm>
            <a:off x="795528" y="5038344"/>
            <a:ext cx="320040" cy="274320"/>
          </a:xfrm>
          <a:prstGeom prst="rect">
            <a:avLst/>
          </a:prstGeom>
          <a:noFill/>
          <a:ln/>
        </p:spPr>
        <p:txBody>
          <a:bodyPr wrap="square" lIns="0" tIns="0" rIns="0" bIns="0" rtlCol="0" anchor="ctr"/>
          <a:lstStyle/>
          <a:p>
            <a:pPr indent="0" marL="0">
              <a:buNone/>
            </a:pPr>
            <a:r>
              <a:rPr lang="en-US" sz="1300" b="1" dirty="0">
                <a:solidFill>
                  <a:srgbClr val="0D6068"/>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161288" y="5020056"/>
            <a:ext cx="8046720" cy="320040"/>
          </a:xfrm>
          <a:prstGeom prst="rect">
            <a:avLst/>
          </a:prstGeom>
          <a:noFill/>
          <a:ln/>
        </p:spPr>
        <p:txBody>
          <a:bodyPr wrap="square" lIns="0" tIns="0" rIns="0" bIns="0" rtlCol="0" anchor="ctr"/>
          <a:lstStyle/>
          <a:p>
            <a:pPr indent="0" marL="0">
              <a:buNone/>
            </a:pPr>
            <a:r>
              <a:rPr lang="en-US" sz="1400" b="1" dirty="0">
                <a:solidFill>
                  <a:srgbClr val="0F1E22"/>
                </a:solidFill>
                <a:latin typeface="Calibri" pitchFamily="34" charset="0"/>
                <a:ea typeface="Calibri" pitchFamily="34" charset="-122"/>
                <a:cs typeface="Calibri" pitchFamily="34" charset="-120"/>
              </a:rPr>
              <a:t>…applied to Class B's 68.6% of profit = NLP's share of everything</a:t>
            </a:r>
            <a:endParaRPr lang="en-US" sz="1400" dirty="0"/>
          </a:p>
        </p:txBody>
      </p:sp>
      <p:sp>
        <p:nvSpPr>
          <p:cNvPr id="23" name="Text 21"/>
          <p:cNvSpPr txBox="1"/>
          <p:nvPr/>
        </p:nvSpPr>
        <p:spPr>
          <a:xfrm>
            <a:off x="9372600" y="4992624"/>
            <a:ext cx="2011680" cy="365760"/>
          </a:xfrm>
          <a:prstGeom prst="rect">
            <a:avLst/>
          </a:prstGeom>
          <a:noFill/>
          <a:ln/>
        </p:spPr>
        <p:txBody>
          <a:bodyPr wrap="square" lIns="0" tIns="0" rIns="0" bIns="0" rtlCol="0" anchor="ctr"/>
          <a:lstStyle/>
          <a:p>
            <a:pPr algn="r" indent="0" marL="0">
              <a:buNone/>
            </a:pPr>
            <a:r>
              <a:rPr lang="en-US" sz="1900" b="1" dirty="0">
                <a:solidFill>
                  <a:srgbClr val="0D6068"/>
                </a:solidFill>
                <a:latin typeface="Cambria" pitchFamily="34" charset="0"/>
                <a:ea typeface="Cambria" pitchFamily="34" charset="-122"/>
                <a:cs typeface="Cambria" pitchFamily="34" charset="-120"/>
              </a:rPr>
              <a:t>14.1%</a:t>
            </a:r>
            <a:endParaRPr lang="en-US" sz="1900" dirty="0"/>
          </a:p>
        </p:txBody>
      </p:sp>
      <p:sp>
        <p:nvSpPr>
          <p:cNvPr id="24" name="Text 22"/>
          <p:cNvSpPr txBox="1"/>
          <p:nvPr/>
        </p:nvSpPr>
        <p:spPr>
          <a:xfrm>
            <a:off x="594360" y="5806440"/>
            <a:ext cx="10972800" cy="365760"/>
          </a:xfrm>
          <a:prstGeom prst="rect">
            <a:avLst/>
          </a:prstGeom>
          <a:noFill/>
          <a:ln/>
        </p:spPr>
        <p:txBody>
          <a:bodyPr wrap="square" lIns="0" tIns="0" rIns="0" bIns="0" rtlCol="0" anchor="ctr"/>
          <a:lstStyle/>
          <a:p>
            <a:pPr indent="0" marL="0">
              <a:buNone/>
            </a:pPr>
            <a:r>
              <a:rPr lang="en-US" sz="1200" dirty="0">
                <a:solidFill>
                  <a:srgbClr val="6C7F85"/>
                </a:solidFill>
                <a:latin typeface="Calibri" pitchFamily="34" charset="0"/>
                <a:ea typeface="Calibri" pitchFamily="34" charset="-122"/>
                <a:cs typeface="Calibri" pitchFamily="34" charset="-120"/>
              </a:rPr>
              <a:t>The source document states 13%, 20% and 14.1%; recomputed they are 13.6%, 20.9% and 14.4%.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2 · THE NEW SHARING RATIO</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NLP's slice comes out of Class B</a:t>
            </a:r>
            <a:endParaRPr lang="en-US" sz="3000" dirty="0"/>
          </a:p>
        </p:txBody>
      </p:sp>
      <p:sp>
        <p:nvSpPr>
          <p:cNvPr id="4" name="Text 2"/>
          <p:cNvSpPr txBox="1"/>
          <p:nvPr/>
        </p:nvSpPr>
        <p:spPr>
          <a:xfrm>
            <a:off x="594360" y="1737360"/>
            <a:ext cx="10972800" cy="237744"/>
          </a:xfrm>
          <a:prstGeom prst="rect">
            <a:avLst/>
          </a:prstGeom>
          <a:noFill/>
          <a:ln/>
        </p:spPr>
        <p:txBody>
          <a:bodyPr wrap="square" lIns="0" tIns="0" rIns="0" bIns="0" rtlCol="0" anchor="ctr"/>
          <a:lstStyle/>
          <a:p>
            <a:pPr indent="0" marL="0">
              <a:buNone/>
            </a:pPr>
            <a:r>
              <a:rPr lang="en-US" sz="1000" b="1" spc="120" kern="0" dirty="0">
                <a:solidFill>
                  <a:srgbClr val="6C7F85"/>
                </a:solidFill>
                <a:latin typeface="Calibri" pitchFamily="34" charset="0"/>
                <a:ea typeface="Calibri" pitchFamily="34" charset="-122"/>
                <a:cs typeface="Calibri" pitchFamily="34" charset="-120"/>
              </a:rPr>
              <a:t>BEFORE THE TRANSACTION — EVERY DOLLAR OF PROFIT ABOVE THE ROC</a:t>
            </a:r>
            <a:endParaRPr lang="en-US" sz="1000" dirty="0"/>
          </a:p>
        </p:txBody>
      </p:sp>
      <p:sp>
        <p:nvSpPr>
          <p:cNvPr id="5" name="Shape 3"/>
          <p:cNvSpPr/>
          <p:nvPr/>
        </p:nvSpPr>
        <p:spPr>
          <a:xfrm>
            <a:off x="594360" y="2011680"/>
            <a:ext cx="3445459" cy="914400"/>
          </a:xfrm>
          <a:prstGeom prst="rect">
            <a:avLst/>
          </a:prstGeom>
          <a:solidFill>
            <a:srgbClr val="0D6068"/>
          </a:solidFill>
          <a:ln/>
        </p:spPr>
      </p:sp>
      <p:sp>
        <p:nvSpPr>
          <p:cNvPr id="6" name="Text 4"/>
          <p:cNvSpPr txBox="1"/>
          <p:nvPr/>
        </p:nvSpPr>
        <p:spPr>
          <a:xfrm>
            <a:off x="704088" y="2066544"/>
            <a:ext cx="3226003"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31.4%</a:t>
            </a:r>
            <a:endParaRPr lang="en-US" sz="1500" dirty="0"/>
          </a:p>
        </p:txBody>
      </p:sp>
      <p:sp>
        <p:nvSpPr>
          <p:cNvPr id="7" name="Text 5"/>
          <p:cNvSpPr txBox="1"/>
          <p:nvPr/>
        </p:nvSpPr>
        <p:spPr>
          <a:xfrm>
            <a:off x="704088" y="2487168"/>
            <a:ext cx="3226003" cy="384048"/>
          </a:xfrm>
          <a:prstGeom prst="rect">
            <a:avLst/>
          </a:prstGeom>
          <a:noFill/>
          <a:ln/>
        </p:spPr>
        <p:txBody>
          <a:bodyPr wrap="square" lIns="0" tIns="0" rIns="0" bIns="0" rtlCol="0" anchor="ctr"/>
          <a:lstStyle/>
          <a:p>
            <a:pPr indent="0" marL="0">
              <a:buNone/>
            </a:pPr>
            <a:r>
              <a:rPr lang="en-US" sz="1000" spc="80" kern="0" dirty="0">
                <a:solidFill>
                  <a:srgbClr val="FFFFFF"/>
                </a:solidFill>
                <a:latin typeface="Calibri" pitchFamily="34" charset="0"/>
                <a:ea typeface="Calibri" pitchFamily="34" charset="-122"/>
                <a:cs typeface="Calibri" pitchFamily="34" charset="-120"/>
              </a:rPr>
              <a:t>CLASS A</a:t>
            </a:r>
            <a:endParaRPr lang="en-US" sz="1000" dirty="0"/>
          </a:p>
        </p:txBody>
      </p:sp>
      <p:sp>
        <p:nvSpPr>
          <p:cNvPr id="8" name="Shape 6"/>
          <p:cNvSpPr/>
          <p:nvPr/>
        </p:nvSpPr>
        <p:spPr>
          <a:xfrm>
            <a:off x="4039819" y="2011680"/>
            <a:ext cx="7527341" cy="914400"/>
          </a:xfrm>
          <a:prstGeom prst="rect">
            <a:avLst/>
          </a:prstGeom>
          <a:solidFill>
            <a:srgbClr val="7FA6A6"/>
          </a:solidFill>
          <a:ln/>
        </p:spPr>
      </p:sp>
      <p:sp>
        <p:nvSpPr>
          <p:cNvPr id="9" name="Text 7"/>
          <p:cNvSpPr txBox="1"/>
          <p:nvPr/>
        </p:nvSpPr>
        <p:spPr>
          <a:xfrm>
            <a:off x="4149547" y="2066544"/>
            <a:ext cx="7307885"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68.6%</a:t>
            </a:r>
            <a:endParaRPr lang="en-US" sz="1500" dirty="0"/>
          </a:p>
        </p:txBody>
      </p:sp>
      <p:sp>
        <p:nvSpPr>
          <p:cNvPr id="10" name="Text 8"/>
          <p:cNvSpPr txBox="1"/>
          <p:nvPr/>
        </p:nvSpPr>
        <p:spPr>
          <a:xfrm>
            <a:off x="4149547" y="2487168"/>
            <a:ext cx="7307885" cy="384048"/>
          </a:xfrm>
          <a:prstGeom prst="rect">
            <a:avLst/>
          </a:prstGeom>
          <a:noFill/>
          <a:ln/>
        </p:spPr>
        <p:txBody>
          <a:bodyPr wrap="square" lIns="0" tIns="0" rIns="0" bIns="0" rtlCol="0" anchor="ctr"/>
          <a:lstStyle/>
          <a:p>
            <a:pPr indent="0" marL="0">
              <a:buNone/>
            </a:pPr>
            <a:r>
              <a:rPr lang="en-US" sz="1000" spc="80" kern="0" dirty="0">
                <a:solidFill>
                  <a:srgbClr val="FFFFFF"/>
                </a:solidFill>
                <a:latin typeface="Calibri" pitchFamily="34" charset="0"/>
                <a:ea typeface="Calibri" pitchFamily="34" charset="-122"/>
                <a:cs typeface="Calibri" pitchFamily="34" charset="-120"/>
              </a:rPr>
              <a:t>CLASS B</a:t>
            </a:r>
            <a:endParaRPr lang="en-US" sz="1000" dirty="0"/>
          </a:p>
        </p:txBody>
      </p:sp>
      <p:sp>
        <p:nvSpPr>
          <p:cNvPr id="11" name="Text 9"/>
          <p:cNvSpPr txBox="1"/>
          <p:nvPr/>
        </p:nvSpPr>
        <p:spPr>
          <a:xfrm>
            <a:off x="594360" y="3291840"/>
            <a:ext cx="10972800" cy="237744"/>
          </a:xfrm>
          <a:prstGeom prst="rect">
            <a:avLst/>
          </a:prstGeom>
          <a:noFill/>
          <a:ln/>
        </p:spPr>
        <p:txBody>
          <a:bodyPr wrap="square" lIns="0" tIns="0" rIns="0" bIns="0" rtlCol="0" anchor="ctr"/>
          <a:lstStyle/>
          <a:p>
            <a:pPr indent="0" marL="0">
              <a:buNone/>
            </a:pPr>
            <a:r>
              <a:rPr lang="en-US" sz="1000" b="1" spc="120" kern="0" dirty="0">
                <a:solidFill>
                  <a:srgbClr val="6C7F85"/>
                </a:solidFill>
                <a:latin typeface="Calibri" pitchFamily="34" charset="0"/>
                <a:ea typeface="Calibri" pitchFamily="34" charset="-122"/>
                <a:cs typeface="Calibri" pitchFamily="34" charset="-120"/>
              </a:rPr>
              <a:t>AFTER THE TRANSACTION — EVERY DOLLAR ABOVE NLP'S REPAID $35M</a:t>
            </a:r>
            <a:endParaRPr lang="en-US" sz="1000" dirty="0"/>
          </a:p>
        </p:txBody>
      </p:sp>
      <p:sp>
        <p:nvSpPr>
          <p:cNvPr id="12" name="Shape 10"/>
          <p:cNvSpPr/>
          <p:nvPr/>
        </p:nvSpPr>
        <p:spPr>
          <a:xfrm>
            <a:off x="594360" y="3566160"/>
            <a:ext cx="3445459" cy="914400"/>
          </a:xfrm>
          <a:prstGeom prst="rect">
            <a:avLst/>
          </a:prstGeom>
          <a:solidFill>
            <a:srgbClr val="0D6068"/>
          </a:solidFill>
          <a:ln/>
        </p:spPr>
      </p:sp>
      <p:sp>
        <p:nvSpPr>
          <p:cNvPr id="13" name="Text 11"/>
          <p:cNvSpPr txBox="1"/>
          <p:nvPr/>
        </p:nvSpPr>
        <p:spPr>
          <a:xfrm>
            <a:off x="704088" y="3621024"/>
            <a:ext cx="3226003"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31.4%</a:t>
            </a:r>
            <a:endParaRPr lang="en-US" sz="1500" dirty="0"/>
          </a:p>
        </p:txBody>
      </p:sp>
      <p:sp>
        <p:nvSpPr>
          <p:cNvPr id="14" name="Text 12"/>
          <p:cNvSpPr txBox="1"/>
          <p:nvPr/>
        </p:nvSpPr>
        <p:spPr>
          <a:xfrm>
            <a:off x="704088" y="4041648"/>
            <a:ext cx="3226003" cy="384048"/>
          </a:xfrm>
          <a:prstGeom prst="rect">
            <a:avLst/>
          </a:prstGeom>
          <a:noFill/>
          <a:ln/>
        </p:spPr>
        <p:txBody>
          <a:bodyPr wrap="square" lIns="0" tIns="0" rIns="0" bIns="0" rtlCol="0" anchor="ctr"/>
          <a:lstStyle/>
          <a:p>
            <a:pPr indent="0" marL="0">
              <a:buNone/>
            </a:pPr>
            <a:r>
              <a:rPr lang="en-US" sz="1000" spc="80" kern="0" dirty="0">
                <a:solidFill>
                  <a:srgbClr val="FFFFFF"/>
                </a:solidFill>
                <a:latin typeface="Calibri" pitchFamily="34" charset="0"/>
                <a:ea typeface="Calibri" pitchFamily="34" charset="-122"/>
                <a:cs typeface="Calibri" pitchFamily="34" charset="-120"/>
              </a:rPr>
              <a:t>CLASS A</a:t>
            </a:r>
            <a:endParaRPr lang="en-US" sz="1000" dirty="0"/>
          </a:p>
        </p:txBody>
      </p:sp>
      <p:sp>
        <p:nvSpPr>
          <p:cNvPr id="15" name="Shape 13"/>
          <p:cNvSpPr/>
          <p:nvPr/>
        </p:nvSpPr>
        <p:spPr>
          <a:xfrm>
            <a:off x="4039819" y="3566160"/>
            <a:ext cx="5980176" cy="914400"/>
          </a:xfrm>
          <a:prstGeom prst="rect">
            <a:avLst/>
          </a:prstGeom>
          <a:solidFill>
            <a:srgbClr val="7FA6A6"/>
          </a:solidFill>
          <a:ln/>
        </p:spPr>
      </p:sp>
      <p:sp>
        <p:nvSpPr>
          <p:cNvPr id="16" name="Text 14"/>
          <p:cNvSpPr txBox="1"/>
          <p:nvPr/>
        </p:nvSpPr>
        <p:spPr>
          <a:xfrm>
            <a:off x="4149547" y="3621024"/>
            <a:ext cx="57607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54.5%</a:t>
            </a:r>
            <a:endParaRPr lang="en-US" sz="1500" dirty="0"/>
          </a:p>
        </p:txBody>
      </p:sp>
      <p:sp>
        <p:nvSpPr>
          <p:cNvPr id="17" name="Text 15"/>
          <p:cNvSpPr txBox="1"/>
          <p:nvPr/>
        </p:nvSpPr>
        <p:spPr>
          <a:xfrm>
            <a:off x="4149547" y="4041648"/>
            <a:ext cx="5760720" cy="384048"/>
          </a:xfrm>
          <a:prstGeom prst="rect">
            <a:avLst/>
          </a:prstGeom>
          <a:noFill/>
          <a:ln/>
        </p:spPr>
        <p:txBody>
          <a:bodyPr wrap="square" lIns="0" tIns="0" rIns="0" bIns="0" rtlCol="0" anchor="ctr"/>
          <a:lstStyle/>
          <a:p>
            <a:pPr indent="0" marL="0">
              <a:buNone/>
            </a:pPr>
            <a:r>
              <a:rPr lang="en-US" sz="1000" spc="80" kern="0" dirty="0">
                <a:solidFill>
                  <a:srgbClr val="FFFFFF"/>
                </a:solidFill>
                <a:latin typeface="Calibri" pitchFamily="34" charset="0"/>
                <a:ea typeface="Calibri" pitchFamily="34" charset="-122"/>
                <a:cs typeface="Calibri" pitchFamily="34" charset="-120"/>
              </a:rPr>
              <a:t>CLASS B1 · OLD LPs</a:t>
            </a:r>
            <a:endParaRPr lang="en-US" sz="1000" dirty="0"/>
          </a:p>
        </p:txBody>
      </p:sp>
      <p:sp>
        <p:nvSpPr>
          <p:cNvPr id="18" name="Shape 16"/>
          <p:cNvSpPr/>
          <p:nvPr/>
        </p:nvSpPr>
        <p:spPr>
          <a:xfrm>
            <a:off x="10019995" y="3566160"/>
            <a:ext cx="1547165" cy="914400"/>
          </a:xfrm>
          <a:prstGeom prst="rect">
            <a:avLst/>
          </a:prstGeom>
          <a:solidFill>
            <a:srgbClr val="96501F"/>
          </a:solidFill>
          <a:ln/>
        </p:spPr>
      </p:sp>
      <p:sp>
        <p:nvSpPr>
          <p:cNvPr id="19" name="Text 17"/>
          <p:cNvSpPr txBox="1"/>
          <p:nvPr/>
        </p:nvSpPr>
        <p:spPr>
          <a:xfrm>
            <a:off x="10129723" y="3621024"/>
            <a:ext cx="1327709"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14.1%</a:t>
            </a:r>
            <a:endParaRPr lang="en-US" sz="1500" dirty="0"/>
          </a:p>
        </p:txBody>
      </p:sp>
      <p:sp>
        <p:nvSpPr>
          <p:cNvPr id="20" name="Text 18"/>
          <p:cNvSpPr txBox="1"/>
          <p:nvPr/>
        </p:nvSpPr>
        <p:spPr>
          <a:xfrm>
            <a:off x="10129723" y="4041648"/>
            <a:ext cx="1327709" cy="384048"/>
          </a:xfrm>
          <a:prstGeom prst="rect">
            <a:avLst/>
          </a:prstGeom>
          <a:noFill/>
          <a:ln/>
        </p:spPr>
        <p:txBody>
          <a:bodyPr wrap="square" lIns="0" tIns="0" rIns="0" bIns="0" rtlCol="0" anchor="ctr"/>
          <a:lstStyle/>
          <a:p>
            <a:pPr indent="0" marL="0">
              <a:buNone/>
            </a:pPr>
            <a:r>
              <a:rPr lang="en-US" sz="1000" spc="80" kern="0" dirty="0">
                <a:solidFill>
                  <a:srgbClr val="FFFFFF"/>
                </a:solidFill>
                <a:latin typeface="Calibri" pitchFamily="34" charset="0"/>
                <a:ea typeface="Calibri" pitchFamily="34" charset="-122"/>
                <a:cs typeface="Calibri" pitchFamily="34" charset="-120"/>
              </a:rPr>
              <a:t>NLP</a:t>
            </a:r>
            <a:endParaRPr lang="en-US" sz="1000" dirty="0"/>
          </a:p>
        </p:txBody>
      </p:sp>
      <p:sp>
        <p:nvSpPr>
          <p:cNvPr id="21" name="Text 19"/>
          <p:cNvSpPr txBox="1"/>
          <p:nvPr/>
        </p:nvSpPr>
        <p:spPr>
          <a:xfrm>
            <a:off x="594360" y="4800600"/>
            <a:ext cx="10241280" cy="91440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Because the secondary is sold out of Class B, the GP is not diluted: the entire 14.1% comes out of the LPs' 68.6%. That is why the fund can pay Class A 31.4% of absolute proceeds even though only 87.3% of each exit cheque reaches the fund.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3 · WHY THERE ARE TWO CHEQUES</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Only a tenth of the money can go offshore-to-offshore</a:t>
            </a:r>
            <a:endParaRPr lang="en-US" sz="3000" dirty="0"/>
          </a:p>
        </p:txBody>
      </p:sp>
      <p:sp>
        <p:nvSpPr>
          <p:cNvPr id="4" name="Shape 2"/>
          <p:cNvSpPr/>
          <p:nvPr/>
        </p:nvSpPr>
        <p:spPr>
          <a:xfrm>
            <a:off x="594360" y="2743200"/>
            <a:ext cx="2103120" cy="914400"/>
          </a:xfrm>
          <a:prstGeom prst="roundRect">
            <a:avLst>
              <a:gd name="adj" fmla="val 3000"/>
            </a:avLst>
          </a:prstGeom>
          <a:solidFill>
            <a:srgbClr val="F1F4F4"/>
          </a:solidFill>
          <a:ln w="12700">
            <a:solidFill>
              <a:srgbClr val="D5DCDD"/>
            </a:solidFill>
            <a:prstDash val="solid"/>
          </a:ln>
        </p:spPr>
      </p:sp>
      <p:sp>
        <p:nvSpPr>
          <p:cNvPr id="5" name="Text 3"/>
          <p:cNvSpPr txBox="1"/>
          <p:nvPr/>
        </p:nvSpPr>
        <p:spPr>
          <a:xfrm>
            <a:off x="758952" y="2889504"/>
            <a:ext cx="1773936" cy="274320"/>
          </a:xfrm>
          <a:prstGeom prst="rect">
            <a:avLst/>
          </a:prstGeom>
          <a:noFill/>
          <a:ln/>
        </p:spPr>
        <p:txBody>
          <a:bodyPr wrap="square" lIns="0" tIns="0" rIns="0" bIns="0" rtlCol="0" anchor="ctr"/>
          <a:lstStyle/>
          <a:p>
            <a:pPr indent="0" marL="0">
              <a:buNone/>
            </a:pPr>
            <a:r>
              <a:rPr lang="en-US" sz="1400" b="1" dirty="0">
                <a:solidFill>
                  <a:srgbClr val="0F1E22"/>
                </a:solidFill>
                <a:latin typeface="Calibri" pitchFamily="34" charset="0"/>
                <a:ea typeface="Calibri" pitchFamily="34" charset="-122"/>
                <a:cs typeface="Calibri" pitchFamily="34" charset="-120"/>
              </a:rPr>
              <a:t>NLP</a:t>
            </a:r>
            <a:endParaRPr lang="en-US" sz="1400" dirty="0"/>
          </a:p>
        </p:txBody>
      </p:sp>
      <p:sp>
        <p:nvSpPr>
          <p:cNvPr id="6" name="Text 4"/>
          <p:cNvSpPr txBox="1"/>
          <p:nvPr/>
        </p:nvSpPr>
        <p:spPr>
          <a:xfrm>
            <a:off x="758952" y="3182112"/>
            <a:ext cx="1773936" cy="502920"/>
          </a:xfrm>
          <a:prstGeom prst="rect">
            <a:avLst/>
          </a:prstGeom>
          <a:noFill/>
          <a:ln/>
        </p:spPr>
        <p:txBody>
          <a:bodyPr wrap="square" lIns="0" tIns="0" rIns="0" bIns="0" rtlCol="0" anchor="ctr"/>
          <a:lstStyle/>
          <a:p>
            <a:pPr indent="0" marL="0">
              <a:lnSpc>
                <a:spcPts val="1500"/>
              </a:lnSpc>
              <a:buNone/>
            </a:pPr>
            <a:r>
              <a:rPr lang="en-US" sz="1100" dirty="0">
                <a:solidFill>
                  <a:srgbClr val="6C7F85"/>
                </a:solidFill>
                <a:latin typeface="Calibri" pitchFamily="34" charset="0"/>
                <a:ea typeface="Calibri" pitchFamily="34" charset="-122"/>
                <a:cs typeface="Calibri" pitchFamily="34" charset="-120"/>
              </a:rPr>
              <a:t>$35M cheque</a:t>
            </a:r>
            <a:endParaRPr lang="en-US" sz="1100" dirty="0"/>
          </a:p>
        </p:txBody>
      </p:sp>
      <p:sp>
        <p:nvSpPr>
          <p:cNvPr id="7" name="Shape 5"/>
          <p:cNvSpPr/>
          <p:nvPr/>
        </p:nvSpPr>
        <p:spPr>
          <a:xfrm>
            <a:off x="3657600" y="1783080"/>
            <a:ext cx="3200400" cy="1051560"/>
          </a:xfrm>
          <a:prstGeom prst="roundRect">
            <a:avLst>
              <a:gd name="adj" fmla="val 2609"/>
            </a:avLst>
          </a:prstGeom>
          <a:solidFill>
            <a:srgbClr val="F1F4F4"/>
          </a:solidFill>
          <a:ln w="12700">
            <a:solidFill>
              <a:srgbClr val="D5DCDD"/>
            </a:solidFill>
            <a:prstDash val="solid"/>
          </a:ln>
        </p:spPr>
      </p:sp>
      <p:sp>
        <p:nvSpPr>
          <p:cNvPr id="8" name="Text 6"/>
          <p:cNvSpPr txBox="1"/>
          <p:nvPr/>
        </p:nvSpPr>
        <p:spPr>
          <a:xfrm>
            <a:off x="3822192" y="1929384"/>
            <a:ext cx="2871216" cy="274320"/>
          </a:xfrm>
          <a:prstGeom prst="rect">
            <a:avLst/>
          </a:prstGeom>
          <a:noFill/>
          <a:ln/>
        </p:spPr>
        <p:txBody>
          <a:bodyPr wrap="square" lIns="0" tIns="0" rIns="0" bIns="0" rtlCol="0" anchor="ctr"/>
          <a:lstStyle/>
          <a:p>
            <a:pPr indent="0" marL="0">
              <a:buNone/>
            </a:pPr>
            <a:r>
              <a:rPr lang="en-US" sz="1400" b="1" dirty="0">
                <a:solidFill>
                  <a:srgbClr val="0F1E22"/>
                </a:solidFill>
                <a:latin typeface="Calibri" pitchFamily="34" charset="0"/>
                <a:ea typeface="Calibri" pitchFamily="34" charset="-122"/>
                <a:cs typeface="Calibri" pitchFamily="34" charset="-120"/>
              </a:rPr>
              <a:t>NLPF · Singapore feeder</a:t>
            </a:r>
            <a:endParaRPr lang="en-US" sz="1400" dirty="0"/>
          </a:p>
        </p:txBody>
      </p:sp>
      <p:sp>
        <p:nvSpPr>
          <p:cNvPr id="9" name="Text 7"/>
          <p:cNvSpPr txBox="1"/>
          <p:nvPr/>
        </p:nvSpPr>
        <p:spPr>
          <a:xfrm>
            <a:off x="3822192" y="2221992"/>
            <a:ext cx="2871216" cy="502920"/>
          </a:xfrm>
          <a:prstGeom prst="rect">
            <a:avLst/>
          </a:prstGeom>
          <a:noFill/>
          <a:ln/>
        </p:spPr>
        <p:txBody>
          <a:bodyPr wrap="square" lIns="0" tIns="0" rIns="0" bIns="0" rtlCol="0" anchor="ctr"/>
          <a:lstStyle/>
          <a:p>
            <a:pPr indent="0" marL="0">
              <a:lnSpc>
                <a:spcPts val="1500"/>
              </a:lnSpc>
              <a:buNone/>
            </a:pPr>
            <a:r>
              <a:rPr lang="en-US" sz="1100" dirty="0">
                <a:solidFill>
                  <a:srgbClr val="6C7F85"/>
                </a:solidFill>
                <a:latin typeface="Calibri" pitchFamily="34" charset="0"/>
                <a:ea typeface="Calibri" pitchFamily="34" charset="-122"/>
                <a:cs typeface="Calibri" pitchFamily="34" charset="-120"/>
              </a:rPr>
              <a:t>10% of the cheque · $3.50M</a:t>
            </a:r>
            <a:endParaRPr lang="en-US" sz="1100" dirty="0"/>
          </a:p>
        </p:txBody>
      </p:sp>
      <p:sp>
        <p:nvSpPr>
          <p:cNvPr id="10" name="Shape 8"/>
          <p:cNvSpPr/>
          <p:nvPr/>
        </p:nvSpPr>
        <p:spPr>
          <a:xfrm>
            <a:off x="3657600" y="3657600"/>
            <a:ext cx="3200400" cy="1051560"/>
          </a:xfrm>
          <a:prstGeom prst="roundRect">
            <a:avLst>
              <a:gd name="adj" fmla="val 2609"/>
            </a:avLst>
          </a:prstGeom>
          <a:solidFill>
            <a:srgbClr val="F1F4F4"/>
          </a:solidFill>
          <a:ln w="12700">
            <a:solidFill>
              <a:srgbClr val="D5DCDD"/>
            </a:solidFill>
            <a:prstDash val="solid"/>
          </a:ln>
        </p:spPr>
      </p:sp>
      <p:sp>
        <p:nvSpPr>
          <p:cNvPr id="11" name="Text 9"/>
          <p:cNvSpPr txBox="1"/>
          <p:nvPr/>
        </p:nvSpPr>
        <p:spPr>
          <a:xfrm>
            <a:off x="3822192" y="3803904"/>
            <a:ext cx="2871216" cy="274320"/>
          </a:xfrm>
          <a:prstGeom prst="rect">
            <a:avLst/>
          </a:prstGeom>
          <a:noFill/>
          <a:ln/>
        </p:spPr>
        <p:txBody>
          <a:bodyPr wrap="square" lIns="0" tIns="0" rIns="0" bIns="0" rtlCol="0" anchor="ctr"/>
          <a:lstStyle/>
          <a:p>
            <a:pPr indent="0" marL="0">
              <a:buNone/>
            </a:pPr>
            <a:r>
              <a:rPr lang="en-US" sz="1400" b="1" dirty="0">
                <a:solidFill>
                  <a:srgbClr val="0F1E22"/>
                </a:solidFill>
                <a:latin typeface="Calibri" pitchFamily="34" charset="0"/>
                <a:ea typeface="Calibri" pitchFamily="34" charset="-122"/>
                <a:cs typeface="Calibri" pitchFamily="34" charset="-120"/>
              </a:rPr>
              <a:t>NLPI · India fund</a:t>
            </a:r>
            <a:endParaRPr lang="en-US" sz="1400" dirty="0"/>
          </a:p>
        </p:txBody>
      </p:sp>
      <p:sp>
        <p:nvSpPr>
          <p:cNvPr id="12" name="Text 10"/>
          <p:cNvSpPr txBox="1"/>
          <p:nvPr/>
        </p:nvSpPr>
        <p:spPr>
          <a:xfrm>
            <a:off x="3822192" y="4096512"/>
            <a:ext cx="2871216" cy="502920"/>
          </a:xfrm>
          <a:prstGeom prst="rect">
            <a:avLst/>
          </a:prstGeom>
          <a:noFill/>
          <a:ln/>
        </p:spPr>
        <p:txBody>
          <a:bodyPr wrap="square" lIns="0" tIns="0" rIns="0" bIns="0" rtlCol="0" anchor="ctr"/>
          <a:lstStyle/>
          <a:p>
            <a:pPr indent="0" marL="0">
              <a:lnSpc>
                <a:spcPts val="1500"/>
              </a:lnSpc>
              <a:buNone/>
            </a:pPr>
            <a:r>
              <a:rPr lang="en-US" sz="1100" dirty="0">
                <a:solidFill>
                  <a:srgbClr val="6C7F85"/>
                </a:solidFill>
                <a:latin typeface="Calibri" pitchFamily="34" charset="0"/>
                <a:ea typeface="Calibri" pitchFamily="34" charset="-122"/>
                <a:cs typeface="Calibri" pitchFamily="34" charset="-120"/>
              </a:rPr>
              <a:t>90% of the cheque · $31.50M</a:t>
            </a:r>
            <a:endParaRPr lang="en-US" sz="1100" dirty="0"/>
          </a:p>
        </p:txBody>
      </p:sp>
      <p:sp>
        <p:nvSpPr>
          <p:cNvPr id="13" name="Shape 11"/>
          <p:cNvSpPr/>
          <p:nvPr/>
        </p:nvSpPr>
        <p:spPr>
          <a:xfrm>
            <a:off x="8138160" y="1783080"/>
            <a:ext cx="3429000" cy="1051560"/>
          </a:xfrm>
          <a:prstGeom prst="roundRect">
            <a:avLst>
              <a:gd name="adj" fmla="val 2609"/>
            </a:avLst>
          </a:prstGeom>
          <a:solidFill>
            <a:srgbClr val="DCECEB"/>
          </a:solidFill>
          <a:ln w="12700">
            <a:solidFill>
              <a:srgbClr val="0D6068"/>
            </a:solidFill>
            <a:prstDash val="solid"/>
          </a:ln>
        </p:spPr>
      </p:sp>
      <p:sp>
        <p:nvSpPr>
          <p:cNvPr id="14" name="Text 12"/>
          <p:cNvSpPr txBox="1"/>
          <p:nvPr/>
        </p:nvSpPr>
        <p:spPr>
          <a:xfrm>
            <a:off x="8302752" y="1929384"/>
            <a:ext cx="3099816" cy="274320"/>
          </a:xfrm>
          <a:prstGeom prst="rect">
            <a:avLst/>
          </a:prstGeom>
          <a:noFill/>
          <a:ln/>
        </p:spPr>
        <p:txBody>
          <a:bodyPr wrap="square" lIns="0" tIns="0" rIns="0" bIns="0" rtlCol="0" anchor="ctr"/>
          <a:lstStyle/>
          <a:p>
            <a:pPr indent="0" marL="0">
              <a:buNone/>
            </a:pPr>
            <a:r>
              <a:rPr lang="en-US" sz="1400" b="1" dirty="0">
                <a:solidFill>
                  <a:srgbClr val="0F1E22"/>
                </a:solidFill>
                <a:latin typeface="Calibri" pitchFamily="34" charset="0"/>
                <a:ea typeface="Calibri" pitchFamily="34" charset="-122"/>
                <a:cs typeface="Calibri" pitchFamily="34" charset="-120"/>
              </a:rPr>
              <a:t>SB2 · the fund, in Mauritius</a:t>
            </a:r>
            <a:endParaRPr lang="en-US" sz="1400" dirty="0"/>
          </a:p>
        </p:txBody>
      </p:sp>
      <p:sp>
        <p:nvSpPr>
          <p:cNvPr id="15" name="Text 13"/>
          <p:cNvSpPr txBox="1"/>
          <p:nvPr/>
        </p:nvSpPr>
        <p:spPr>
          <a:xfrm>
            <a:off x="8302752" y="2221992"/>
            <a:ext cx="3099816" cy="502920"/>
          </a:xfrm>
          <a:prstGeom prst="rect">
            <a:avLst/>
          </a:prstGeom>
          <a:noFill/>
          <a:ln/>
        </p:spPr>
        <p:txBody>
          <a:bodyPr wrap="square" lIns="0" tIns="0" rIns="0" bIns="0" rtlCol="0" anchor="ctr"/>
          <a:lstStyle/>
          <a:p>
            <a:pPr indent="0" marL="0">
              <a:lnSpc>
                <a:spcPts val="1500"/>
              </a:lnSpc>
              <a:buNone/>
            </a:pPr>
            <a:r>
              <a:rPr lang="en-US" sz="1100" dirty="0">
                <a:solidFill>
                  <a:srgbClr val="6C7F85"/>
                </a:solidFill>
                <a:latin typeface="Calibri" pitchFamily="34" charset="0"/>
                <a:ea typeface="Calibri" pitchFamily="34" charset="-122"/>
                <a:cs typeface="Calibri" pitchFamily="34" charset="-120"/>
              </a:rPr>
              <a:t>new Class B2 + liqpref</a:t>
            </a:r>
            <a:endParaRPr lang="en-US" sz="1100" dirty="0"/>
          </a:p>
        </p:txBody>
      </p:sp>
      <p:sp>
        <p:nvSpPr>
          <p:cNvPr id="16" name="Shape 14"/>
          <p:cNvSpPr/>
          <p:nvPr/>
        </p:nvSpPr>
        <p:spPr>
          <a:xfrm>
            <a:off x="8138160" y="3657600"/>
            <a:ext cx="3429000" cy="1051560"/>
          </a:xfrm>
          <a:prstGeom prst="roundRect">
            <a:avLst>
              <a:gd name="adj" fmla="val 2609"/>
            </a:avLst>
          </a:prstGeom>
          <a:solidFill>
            <a:srgbClr val="DCECEB"/>
          </a:solidFill>
          <a:ln w="12700">
            <a:solidFill>
              <a:srgbClr val="0D6068"/>
            </a:solidFill>
            <a:prstDash val="solid"/>
          </a:ln>
        </p:spPr>
      </p:sp>
      <p:sp>
        <p:nvSpPr>
          <p:cNvPr id="17" name="Text 15"/>
          <p:cNvSpPr txBox="1"/>
          <p:nvPr/>
        </p:nvSpPr>
        <p:spPr>
          <a:xfrm>
            <a:off x="8302752" y="3803904"/>
            <a:ext cx="3099816" cy="274320"/>
          </a:xfrm>
          <a:prstGeom prst="rect">
            <a:avLst/>
          </a:prstGeom>
          <a:noFill/>
          <a:ln/>
        </p:spPr>
        <p:txBody>
          <a:bodyPr wrap="square" lIns="0" tIns="0" rIns="0" bIns="0" rtlCol="0" anchor="ctr"/>
          <a:lstStyle/>
          <a:p>
            <a:pPr indent="0" marL="0">
              <a:buNone/>
            </a:pPr>
            <a:r>
              <a:rPr lang="en-US" sz="1400" b="1" dirty="0">
                <a:solidFill>
                  <a:srgbClr val="0F1E22"/>
                </a:solidFill>
                <a:latin typeface="Calibri" pitchFamily="34" charset="0"/>
                <a:ea typeface="Calibri" pitchFamily="34" charset="-122"/>
                <a:cs typeface="Calibri" pitchFamily="34" charset="-120"/>
              </a:rPr>
              <a:t>The portcos</a:t>
            </a:r>
            <a:endParaRPr lang="en-US" sz="1400" dirty="0"/>
          </a:p>
        </p:txBody>
      </p:sp>
      <p:sp>
        <p:nvSpPr>
          <p:cNvPr id="18" name="Text 16"/>
          <p:cNvSpPr txBox="1"/>
          <p:nvPr/>
        </p:nvSpPr>
        <p:spPr>
          <a:xfrm>
            <a:off x="8302752" y="4096512"/>
            <a:ext cx="3099816" cy="502920"/>
          </a:xfrm>
          <a:prstGeom prst="rect">
            <a:avLst/>
          </a:prstGeom>
          <a:noFill/>
          <a:ln/>
        </p:spPr>
        <p:txBody>
          <a:bodyPr wrap="square" lIns="0" tIns="0" rIns="0" bIns="0" rtlCol="0" anchor="ctr"/>
          <a:lstStyle/>
          <a:p>
            <a:pPr indent="0" marL="0">
              <a:lnSpc>
                <a:spcPts val="1500"/>
              </a:lnSpc>
              <a:buNone/>
            </a:pPr>
            <a:r>
              <a:rPr lang="en-US" sz="1100" dirty="0">
                <a:solidFill>
                  <a:srgbClr val="6C7F85"/>
                </a:solidFill>
                <a:latin typeface="Calibri" pitchFamily="34" charset="0"/>
                <a:ea typeface="Calibri" pitchFamily="34" charset="-122"/>
                <a:cs typeface="Calibri" pitchFamily="34" charset="-120"/>
              </a:rPr>
              <a:t>direct shareholdings, x2 of each</a:t>
            </a:r>
            <a:endParaRPr lang="en-US" sz="1100" dirty="0"/>
          </a:p>
        </p:txBody>
      </p:sp>
      <p:sp>
        <p:nvSpPr>
          <p:cNvPr id="19" name="Shape 17"/>
          <p:cNvSpPr/>
          <p:nvPr/>
        </p:nvSpPr>
        <p:spPr>
          <a:xfrm flipV="1">
            <a:off x="2697480" y="2331720"/>
            <a:ext cx="960120" cy="685800"/>
          </a:xfrm>
          <a:prstGeom prst="line">
            <a:avLst/>
          </a:prstGeom>
          <a:noFill/>
          <a:ln w="15875">
            <a:solidFill>
              <a:srgbClr val="3A4A50"/>
            </a:solidFill>
            <a:prstDash val="solid"/>
            <a:tailEnd type="triangle"/>
          </a:ln>
        </p:spPr>
      </p:sp>
      <p:sp>
        <p:nvSpPr>
          <p:cNvPr id="20" name="Shape 18"/>
          <p:cNvSpPr/>
          <p:nvPr/>
        </p:nvSpPr>
        <p:spPr>
          <a:xfrm>
            <a:off x="2697480" y="3383280"/>
            <a:ext cx="960120" cy="777240"/>
          </a:xfrm>
          <a:prstGeom prst="line">
            <a:avLst/>
          </a:prstGeom>
          <a:noFill/>
          <a:ln w="15875">
            <a:solidFill>
              <a:srgbClr val="3A4A50"/>
            </a:solidFill>
            <a:prstDash val="solid"/>
            <a:tailEnd type="triangle"/>
          </a:ln>
        </p:spPr>
      </p:sp>
      <p:sp>
        <p:nvSpPr>
          <p:cNvPr id="21" name="Shape 19"/>
          <p:cNvSpPr/>
          <p:nvPr/>
        </p:nvSpPr>
        <p:spPr>
          <a:xfrm>
            <a:off x="6858000" y="2304288"/>
            <a:ext cx="1280160" cy="0"/>
          </a:xfrm>
          <a:prstGeom prst="line">
            <a:avLst/>
          </a:prstGeom>
          <a:noFill/>
          <a:ln w="15875">
            <a:solidFill>
              <a:srgbClr val="3A4A50"/>
            </a:solidFill>
            <a:prstDash val="solid"/>
            <a:tailEnd type="triangle"/>
          </a:ln>
        </p:spPr>
      </p:sp>
      <p:sp>
        <p:nvSpPr>
          <p:cNvPr id="22" name="Shape 20"/>
          <p:cNvSpPr/>
          <p:nvPr/>
        </p:nvSpPr>
        <p:spPr>
          <a:xfrm>
            <a:off x="6858000" y="4178808"/>
            <a:ext cx="1280160" cy="0"/>
          </a:xfrm>
          <a:prstGeom prst="line">
            <a:avLst/>
          </a:prstGeom>
          <a:noFill/>
          <a:ln w="15875">
            <a:solidFill>
              <a:srgbClr val="3A4A50"/>
            </a:solidFill>
            <a:prstDash val="solid"/>
            <a:tailEnd type="triangle"/>
          </a:ln>
        </p:spPr>
      </p:sp>
      <p:sp>
        <p:nvSpPr>
          <p:cNvPr id="23" name="Text 21"/>
          <p:cNvSpPr txBox="1"/>
          <p:nvPr/>
        </p:nvSpPr>
        <p:spPr>
          <a:xfrm>
            <a:off x="6903720" y="1956816"/>
            <a:ext cx="1188720" cy="256032"/>
          </a:xfrm>
          <a:prstGeom prst="rect">
            <a:avLst/>
          </a:prstGeom>
          <a:noFill/>
          <a:ln/>
        </p:spPr>
        <p:txBody>
          <a:bodyPr wrap="square" lIns="0" tIns="0" rIns="0" bIns="0" rtlCol="0" anchor="ctr"/>
          <a:lstStyle/>
          <a:p>
            <a:pPr algn="ctr" indent="0" marL="0">
              <a:buNone/>
            </a:pPr>
            <a:r>
              <a:rPr lang="en-US" sz="1100" i="1" dirty="0">
                <a:solidFill>
                  <a:srgbClr val="6C7F85"/>
                </a:solidFill>
                <a:latin typeface="Calibri" pitchFamily="34" charset="0"/>
                <a:ea typeface="Calibri" pitchFamily="34" charset="-122"/>
                <a:cs typeface="Calibri" pitchFamily="34" charset="-120"/>
              </a:rPr>
              <a:t>primary</a:t>
            </a:r>
            <a:endParaRPr lang="en-US" sz="1100" dirty="0"/>
          </a:p>
        </p:txBody>
      </p:sp>
      <p:sp>
        <p:nvSpPr>
          <p:cNvPr id="24" name="Text 22"/>
          <p:cNvSpPr txBox="1"/>
          <p:nvPr/>
        </p:nvSpPr>
        <p:spPr>
          <a:xfrm>
            <a:off x="6903720" y="3831336"/>
            <a:ext cx="1188720" cy="256032"/>
          </a:xfrm>
          <a:prstGeom prst="rect">
            <a:avLst/>
          </a:prstGeom>
          <a:noFill/>
          <a:ln/>
        </p:spPr>
        <p:txBody>
          <a:bodyPr wrap="square" lIns="0" tIns="0" rIns="0" bIns="0" rtlCol="0" anchor="ctr"/>
          <a:lstStyle/>
          <a:p>
            <a:pPr algn="ctr" indent="0" marL="0">
              <a:buNone/>
            </a:pPr>
            <a:r>
              <a:rPr lang="en-US" sz="1100" i="1" dirty="0">
                <a:solidFill>
                  <a:srgbClr val="6C7F85"/>
                </a:solidFill>
                <a:latin typeface="Calibri" pitchFamily="34" charset="0"/>
                <a:ea typeface="Calibri" pitchFamily="34" charset="-122"/>
                <a:cs typeface="Calibri" pitchFamily="34" charset="-120"/>
              </a:rPr>
              <a:t>secondary</a:t>
            </a:r>
            <a:endParaRPr lang="en-US" sz="1100" dirty="0"/>
          </a:p>
        </p:txBody>
      </p:sp>
      <p:sp>
        <p:nvSpPr>
          <p:cNvPr id="25" name="Text 23"/>
          <p:cNvSpPr txBox="1"/>
          <p:nvPr/>
        </p:nvSpPr>
        <p:spPr>
          <a:xfrm>
            <a:off x="594360" y="5120640"/>
            <a:ext cx="10607040" cy="73152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$3.5M is new money into the fund. $31.5M is a purchase of assets from the fund — so NLPI ends up owning shares in the portcos directly, alongside SB2, and is paid by buyers at every exit.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4 · HOW NLP'S 1X IS SETTLED</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Two legs, measured on the same $3.5M</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3291840"/>
                <a:gridCol w="4206240"/>
                <a:gridCol w="1737360"/>
                <a:gridCol w="1737360"/>
              </a:tblGrid>
              <a:tr h="475488">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LEG</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ROUTE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MULTIPLE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AMOUNT</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F1E22"/>
                          </a:solidFill>
                          <a:latin typeface="Calibri" pitchFamily="34" charset="0"/>
                          <a:ea typeface="Calibri" pitchFamily="34" charset="-122"/>
                          <a:cs typeface="Calibri" pitchFamily="34" charset="-120"/>
                        </a:rPr>
                        <a:t>The liquidation preference</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SB2 → NLPF, in Mauritius</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8.73x</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$30.56M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75488">
                <a:tc>
                  <a:txBody>
                    <a:bodyPr/>
                    <a:lstStyle/>
                    <a:p>
                      <a:pPr indent="0" marL="0">
                        <a:buNone/>
                      </a:pPr>
                      <a:r>
                        <a:rPr lang="en-US" sz="1300" b="1" dirty="0">
                          <a:solidFill>
                            <a:srgbClr val="0F1E22"/>
                          </a:solidFill>
                          <a:latin typeface="Calibri" pitchFamily="34" charset="0"/>
                          <a:ea typeface="Calibri" pitchFamily="34" charset="-122"/>
                          <a:cs typeface="Calibri" pitchFamily="34" charset="-120"/>
                        </a:rPr>
                        <a:t>NLPI's own share sales</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buyers → NLPI, at each company</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1.27x</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$4.44M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75488">
                <a:tc>
                  <a:txBody>
                    <a:bodyPr/>
                    <a:lstStyle/>
                    <a:p>
                      <a:pPr indent="0" marL="0">
                        <a:buNone/>
                      </a:pPr>
                      <a:r>
                        <a:rPr lang="en-US" sz="1300" b="1" dirty="0">
                          <a:solidFill>
                            <a:srgbClr val="0D6068"/>
                          </a:solidFill>
                          <a:latin typeface="Calibri" pitchFamily="34" charset="0"/>
                          <a:ea typeface="Calibri" pitchFamily="34" charset="-122"/>
                          <a:cs typeface="Calibri" pitchFamily="34" charset="-120"/>
                        </a:rPr>
                        <a:t>NLP's 1x, settled</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10.00x</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$35.00M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r>
            </a:tbl>
          </a:graphicData>
        </a:graphic>
      </p:graphicFrame>
      <p:sp>
        <p:nvSpPr>
          <p:cNvPr id="5" name="Text 2"/>
          <p:cNvSpPr txBox="1"/>
          <p:nvPr/>
        </p:nvSpPr>
        <p:spPr>
          <a:xfrm>
            <a:off x="594360" y="3840480"/>
            <a:ext cx="10607040" cy="109728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NLP's money went to two places, so its 1x comes back from two places. The convenient unit is the feeder's $3.5M: NLP's whole $35M is 10x of it, and the two legs add up to that. SB2 cannot prefer what it no longer owns — NLPI sells its own 12.69% alongside SB2 at every exit and keeps those proceeds — so the preference covers only SB2's 87.31%.</a:t>
            </a:r>
            <a:endParaRPr lang="en-US" sz="1400" dirty="0"/>
          </a:p>
        </p:txBody>
      </p:sp>
      <p:sp>
        <p:nvSpPr>
          <p:cNvPr id="6" name="Shape 3"/>
          <p:cNvSpPr/>
          <p:nvPr/>
        </p:nvSpPr>
        <p:spPr>
          <a:xfrm>
            <a:off x="594360" y="5120640"/>
            <a:ext cx="10972800" cy="868680"/>
          </a:xfrm>
          <a:prstGeom prst="roundRect">
            <a:avLst>
              <a:gd name="adj" fmla="val 3158"/>
            </a:avLst>
          </a:prstGeom>
          <a:solidFill>
            <a:srgbClr val="F6EFE8"/>
          </a:solidFill>
          <a:ln w="12700">
            <a:solidFill>
              <a:srgbClr val="E4D3C4"/>
            </a:solidFill>
            <a:prstDash val="solid"/>
          </a:ln>
        </p:spPr>
      </p:sp>
      <p:sp>
        <p:nvSpPr>
          <p:cNvPr id="7" name="Text 4"/>
          <p:cNvSpPr txBox="1"/>
          <p:nvPr/>
        </p:nvSpPr>
        <p:spPr>
          <a:xfrm>
            <a:off x="795528" y="5230368"/>
            <a:ext cx="10570464" cy="219456"/>
          </a:xfrm>
          <a:prstGeom prst="rect">
            <a:avLst/>
          </a:prstGeom>
          <a:noFill/>
          <a:ln/>
        </p:spPr>
        <p:txBody>
          <a:bodyPr wrap="square" lIns="0" tIns="0" rIns="0" bIns="0" rtlCol="0" anchor="ctr"/>
          <a:lstStyle/>
          <a:p>
            <a:pPr indent="0" marL="0">
              <a:buNone/>
            </a:pPr>
            <a:r>
              <a:rPr lang="en-US" sz="1000" b="1" spc="120" kern="0" dirty="0">
                <a:solidFill>
                  <a:srgbClr val="96501F"/>
                </a:solidFill>
                <a:latin typeface="Calibri" pitchFamily="34" charset="0"/>
                <a:ea typeface="Calibri" pitchFamily="34" charset="-122"/>
                <a:cs typeface="Calibri" pitchFamily="34" charset="-120"/>
              </a:rPr>
              <a:t>DRAFT THE FORMULA, NOT THE MULTIPLE</a:t>
            </a:r>
            <a:endParaRPr lang="en-US" sz="1000" dirty="0"/>
          </a:p>
        </p:txBody>
      </p:sp>
      <p:sp>
        <p:nvSpPr>
          <p:cNvPr id="8" name="Text 5"/>
          <p:cNvSpPr txBox="1"/>
          <p:nvPr/>
        </p:nvSpPr>
        <p:spPr>
          <a:xfrm>
            <a:off x="795528" y="5449824"/>
            <a:ext cx="10570464" cy="457200"/>
          </a:xfrm>
          <a:prstGeom prst="rect">
            <a:avLst/>
          </a:prstGeom>
          <a:noFill/>
          <a:ln/>
        </p:spPr>
        <p:txBody>
          <a:bodyPr wrap="square" lIns="0" tIns="0" rIns="0" bIns="0" rtlCol="0" anchor="ctr"/>
          <a:lstStyle/>
          <a:p>
            <a:pPr indent="0" marL="0">
              <a:buNone/>
            </a:pPr>
            <a:r>
              <a:rPr lang="en-US" sz="1300" dirty="0">
                <a:solidFill>
                  <a:srgbClr val="4A3524"/>
                </a:solidFill>
                <a:latin typeface="Calibri" pitchFamily="34" charset="0"/>
                <a:ea typeface="Calibri" pitchFamily="34" charset="-122"/>
                <a:cs typeface="Calibri" pitchFamily="34" charset="-120"/>
              </a:rPr>
              <a:t>8.73x is 87.31% of $35M over $3.5M — a consequence of x2, and x2 will move before signing. The operative words should be “$35M less NLPI's share of the proceeds of the same exits”.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5 · THE FLOW</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One exit, two layers</a:t>
            </a:r>
            <a:endParaRPr lang="en-US" sz="3000" dirty="0"/>
          </a:p>
        </p:txBody>
      </p:sp>
      <p:sp>
        <p:nvSpPr>
          <p:cNvPr id="4" name="Shape 2"/>
          <p:cNvSpPr/>
          <p:nvPr/>
        </p:nvSpPr>
        <p:spPr>
          <a:xfrm>
            <a:off x="594360" y="2971800"/>
            <a:ext cx="1920240" cy="777240"/>
          </a:xfrm>
          <a:prstGeom prst="roundRect">
            <a:avLst>
              <a:gd name="adj" fmla="val 3529"/>
            </a:avLst>
          </a:prstGeom>
          <a:solidFill>
            <a:srgbClr val="F1F4F4"/>
          </a:solidFill>
          <a:ln w="12700">
            <a:solidFill>
              <a:srgbClr val="D5DCDD"/>
            </a:solidFill>
            <a:prstDash val="solid"/>
          </a:ln>
        </p:spPr>
      </p:sp>
      <p:sp>
        <p:nvSpPr>
          <p:cNvPr id="5" name="Text 3"/>
          <p:cNvSpPr txBox="1"/>
          <p:nvPr/>
        </p:nvSpPr>
        <p:spPr>
          <a:xfrm>
            <a:off x="731520" y="3081528"/>
            <a:ext cx="1645920" cy="256032"/>
          </a:xfrm>
          <a:prstGeom prst="rect">
            <a:avLst/>
          </a:prstGeom>
          <a:noFill/>
          <a:ln/>
        </p:spPr>
        <p:txBody>
          <a:bodyPr wrap="square" lIns="0" tIns="0" rIns="0" bIns="0" rtlCol="0" anchor="ctr"/>
          <a:lstStyle/>
          <a:p>
            <a:pPr indent="0" marL="0">
              <a:buNone/>
            </a:pPr>
            <a:r>
              <a:rPr lang="en-US" sz="1300" b="1" dirty="0">
                <a:solidFill>
                  <a:srgbClr val="0F1E22"/>
                </a:solidFill>
                <a:latin typeface="Calibri" pitchFamily="34" charset="0"/>
                <a:ea typeface="Calibri" pitchFamily="34" charset="-122"/>
                <a:cs typeface="Calibri" pitchFamily="34" charset="-120"/>
              </a:rPr>
              <a:t>Buyer's cheque</a:t>
            </a:r>
            <a:endParaRPr lang="en-US" sz="1300" dirty="0"/>
          </a:p>
        </p:txBody>
      </p:sp>
      <p:sp>
        <p:nvSpPr>
          <p:cNvPr id="6" name="Text 4"/>
          <p:cNvSpPr txBox="1"/>
          <p:nvPr/>
        </p:nvSpPr>
        <p:spPr>
          <a:xfrm>
            <a:off x="731520" y="3355848"/>
            <a:ext cx="1645920" cy="256032"/>
          </a:xfrm>
          <a:prstGeom prst="rect">
            <a:avLst/>
          </a:prstGeom>
          <a:noFill/>
          <a:ln/>
        </p:spPr>
        <p:txBody>
          <a:bodyPr wrap="square" lIns="0" tIns="0" rIns="0" bIns="0" rtlCol="0" anchor="ctr"/>
          <a:lstStyle/>
          <a:p>
            <a:pPr indent="0" marL="0">
              <a:buNone/>
            </a:pPr>
            <a:r>
              <a:rPr lang="en-US" sz="1000" dirty="0">
                <a:solidFill>
                  <a:srgbClr val="6C7F85"/>
                </a:solidFill>
                <a:latin typeface="Calibri" pitchFamily="34" charset="0"/>
                <a:ea typeface="Calibri" pitchFamily="34" charset="-122"/>
                <a:cs typeface="Calibri" pitchFamily="34" charset="-120"/>
              </a:rPr>
              <a:t>one portco position</a:t>
            </a:r>
            <a:endParaRPr lang="en-US" sz="1000" dirty="0"/>
          </a:p>
        </p:txBody>
      </p:sp>
      <p:sp>
        <p:nvSpPr>
          <p:cNvPr id="7" name="Shape 5"/>
          <p:cNvSpPr/>
          <p:nvPr/>
        </p:nvSpPr>
        <p:spPr>
          <a:xfrm>
            <a:off x="3246120" y="1783080"/>
            <a:ext cx="2377440" cy="777240"/>
          </a:xfrm>
          <a:prstGeom prst="roundRect">
            <a:avLst>
              <a:gd name="adj" fmla="val 3529"/>
            </a:avLst>
          </a:prstGeom>
          <a:solidFill>
            <a:srgbClr val="F1F4F4"/>
          </a:solidFill>
          <a:ln w="12700">
            <a:solidFill>
              <a:srgbClr val="D5DCDD"/>
            </a:solidFill>
            <a:prstDash val="solid"/>
          </a:ln>
        </p:spPr>
      </p:sp>
      <p:sp>
        <p:nvSpPr>
          <p:cNvPr id="8" name="Text 6"/>
          <p:cNvSpPr txBox="1"/>
          <p:nvPr/>
        </p:nvSpPr>
        <p:spPr>
          <a:xfrm>
            <a:off x="3383280" y="1892808"/>
            <a:ext cx="2103120" cy="256032"/>
          </a:xfrm>
          <a:prstGeom prst="rect">
            <a:avLst/>
          </a:prstGeom>
          <a:noFill/>
          <a:ln/>
        </p:spPr>
        <p:txBody>
          <a:bodyPr wrap="square" lIns="0" tIns="0" rIns="0" bIns="0" rtlCol="0" anchor="ctr"/>
          <a:lstStyle/>
          <a:p>
            <a:pPr indent="0" marL="0">
              <a:buNone/>
            </a:pPr>
            <a:r>
              <a:rPr lang="en-US" sz="1300" b="1" dirty="0">
                <a:solidFill>
                  <a:srgbClr val="0F1E22"/>
                </a:solidFill>
                <a:latin typeface="Calibri" pitchFamily="34" charset="0"/>
                <a:ea typeface="Calibri" pitchFamily="34" charset="-122"/>
                <a:cs typeface="Calibri" pitchFamily="34" charset="-120"/>
              </a:rPr>
              <a:t>NLPI · direct</a:t>
            </a:r>
            <a:endParaRPr lang="en-US" sz="1300" dirty="0"/>
          </a:p>
        </p:txBody>
      </p:sp>
      <p:sp>
        <p:nvSpPr>
          <p:cNvPr id="9" name="Text 7"/>
          <p:cNvSpPr txBox="1"/>
          <p:nvPr/>
        </p:nvSpPr>
        <p:spPr>
          <a:xfrm>
            <a:off x="3383280" y="2167128"/>
            <a:ext cx="2103120" cy="256032"/>
          </a:xfrm>
          <a:prstGeom prst="rect">
            <a:avLst/>
          </a:prstGeom>
          <a:noFill/>
          <a:ln/>
        </p:spPr>
        <p:txBody>
          <a:bodyPr wrap="square" lIns="0" tIns="0" rIns="0" bIns="0" rtlCol="0" anchor="ctr"/>
          <a:lstStyle/>
          <a:p>
            <a:pPr indent="0" marL="0">
              <a:buNone/>
            </a:pPr>
            <a:r>
              <a:rPr lang="en-US" sz="1000" dirty="0">
                <a:solidFill>
                  <a:srgbClr val="6C7F85"/>
                </a:solidFill>
                <a:latin typeface="Calibri" pitchFamily="34" charset="0"/>
                <a:ea typeface="Calibri" pitchFamily="34" charset="-122"/>
                <a:cs typeface="Calibri" pitchFamily="34" charset="-120"/>
              </a:rPr>
              <a:t>paid at the company</a:t>
            </a:r>
            <a:endParaRPr lang="en-US" sz="1000" dirty="0"/>
          </a:p>
        </p:txBody>
      </p:sp>
      <p:sp>
        <p:nvSpPr>
          <p:cNvPr id="10" name="Shape 8"/>
          <p:cNvSpPr/>
          <p:nvPr/>
        </p:nvSpPr>
        <p:spPr>
          <a:xfrm>
            <a:off x="3246120" y="4114800"/>
            <a:ext cx="2377440" cy="777240"/>
          </a:xfrm>
          <a:prstGeom prst="roundRect">
            <a:avLst>
              <a:gd name="adj" fmla="val 3529"/>
            </a:avLst>
          </a:prstGeom>
          <a:solidFill>
            <a:srgbClr val="F1F4F4"/>
          </a:solidFill>
          <a:ln w="12700">
            <a:solidFill>
              <a:srgbClr val="D5DCDD"/>
            </a:solidFill>
            <a:prstDash val="solid"/>
          </a:ln>
        </p:spPr>
      </p:sp>
      <p:sp>
        <p:nvSpPr>
          <p:cNvPr id="11" name="Text 9"/>
          <p:cNvSpPr txBox="1"/>
          <p:nvPr/>
        </p:nvSpPr>
        <p:spPr>
          <a:xfrm>
            <a:off x="3383280" y="4224528"/>
            <a:ext cx="2103120" cy="256032"/>
          </a:xfrm>
          <a:prstGeom prst="rect">
            <a:avLst/>
          </a:prstGeom>
          <a:noFill/>
          <a:ln/>
        </p:spPr>
        <p:txBody>
          <a:bodyPr wrap="square" lIns="0" tIns="0" rIns="0" bIns="0" rtlCol="0" anchor="ctr"/>
          <a:lstStyle/>
          <a:p>
            <a:pPr indent="0" marL="0">
              <a:buNone/>
            </a:pPr>
            <a:r>
              <a:rPr lang="en-US" sz="1300" b="1" dirty="0">
                <a:solidFill>
                  <a:srgbClr val="0F1E22"/>
                </a:solidFill>
                <a:latin typeface="Calibri" pitchFamily="34" charset="0"/>
                <a:ea typeface="Calibri" pitchFamily="34" charset="-122"/>
                <a:cs typeface="Calibri" pitchFamily="34" charset="-120"/>
              </a:rPr>
              <a:t>SB2 · the fund</a:t>
            </a:r>
            <a:endParaRPr lang="en-US" sz="1300" dirty="0"/>
          </a:p>
        </p:txBody>
      </p:sp>
      <p:sp>
        <p:nvSpPr>
          <p:cNvPr id="12" name="Text 10"/>
          <p:cNvSpPr txBox="1"/>
          <p:nvPr/>
        </p:nvSpPr>
        <p:spPr>
          <a:xfrm>
            <a:off x="3383280" y="4498848"/>
            <a:ext cx="2103120" cy="256032"/>
          </a:xfrm>
          <a:prstGeom prst="rect">
            <a:avLst/>
          </a:prstGeom>
          <a:noFill/>
          <a:ln/>
        </p:spPr>
        <p:txBody>
          <a:bodyPr wrap="square" lIns="0" tIns="0" rIns="0" bIns="0" rtlCol="0" anchor="ctr"/>
          <a:lstStyle/>
          <a:p>
            <a:pPr indent="0" marL="0">
              <a:buNone/>
            </a:pPr>
            <a:r>
              <a:rPr lang="en-US" sz="1000" dirty="0">
                <a:solidFill>
                  <a:srgbClr val="6C7F85"/>
                </a:solidFill>
                <a:latin typeface="Calibri" pitchFamily="34" charset="0"/>
                <a:ea typeface="Calibri" pitchFamily="34" charset="-122"/>
                <a:cs typeface="Calibri" pitchFamily="34" charset="-120"/>
              </a:rPr>
              <a:t>paid in Mauritius</a:t>
            </a:r>
            <a:endParaRPr lang="en-US" sz="1000" dirty="0"/>
          </a:p>
        </p:txBody>
      </p:sp>
      <p:sp>
        <p:nvSpPr>
          <p:cNvPr id="13" name="Shape 11"/>
          <p:cNvSpPr/>
          <p:nvPr/>
        </p:nvSpPr>
        <p:spPr>
          <a:xfrm>
            <a:off x="6172200" y="4114800"/>
            <a:ext cx="2286000" cy="777240"/>
          </a:xfrm>
          <a:prstGeom prst="roundRect">
            <a:avLst>
              <a:gd name="adj" fmla="val 3529"/>
            </a:avLst>
          </a:prstGeom>
          <a:solidFill>
            <a:srgbClr val="F6EFE8"/>
          </a:solidFill>
          <a:ln w="12700">
            <a:solidFill>
              <a:srgbClr val="D5DCDD"/>
            </a:solidFill>
            <a:prstDash val="solid"/>
          </a:ln>
        </p:spPr>
      </p:sp>
      <p:sp>
        <p:nvSpPr>
          <p:cNvPr id="14" name="Text 12"/>
          <p:cNvSpPr txBox="1"/>
          <p:nvPr/>
        </p:nvSpPr>
        <p:spPr>
          <a:xfrm>
            <a:off x="6309360" y="4224528"/>
            <a:ext cx="2011680" cy="256032"/>
          </a:xfrm>
          <a:prstGeom prst="rect">
            <a:avLst/>
          </a:prstGeom>
          <a:noFill/>
          <a:ln/>
        </p:spPr>
        <p:txBody>
          <a:bodyPr wrap="square" lIns="0" tIns="0" rIns="0" bIns="0" rtlCol="0" anchor="ctr"/>
          <a:lstStyle/>
          <a:p>
            <a:pPr indent="0" marL="0">
              <a:buNone/>
            </a:pPr>
            <a:r>
              <a:rPr lang="en-US" sz="1300" b="1" dirty="0">
                <a:solidFill>
                  <a:srgbClr val="0F1E22"/>
                </a:solidFill>
                <a:latin typeface="Calibri" pitchFamily="34" charset="0"/>
                <a:ea typeface="Calibri" pitchFamily="34" charset="-122"/>
                <a:cs typeface="Calibri" pitchFamily="34" charset="-120"/>
              </a:rPr>
              <a:t>NLPF liqpref</a:t>
            </a:r>
            <a:endParaRPr lang="en-US" sz="1300" dirty="0"/>
          </a:p>
        </p:txBody>
      </p:sp>
      <p:sp>
        <p:nvSpPr>
          <p:cNvPr id="15" name="Text 13"/>
          <p:cNvSpPr txBox="1"/>
          <p:nvPr/>
        </p:nvSpPr>
        <p:spPr>
          <a:xfrm>
            <a:off x="6309360" y="4498848"/>
            <a:ext cx="2011680" cy="256032"/>
          </a:xfrm>
          <a:prstGeom prst="rect">
            <a:avLst/>
          </a:prstGeom>
          <a:noFill/>
          <a:ln/>
        </p:spPr>
        <p:txBody>
          <a:bodyPr wrap="square" lIns="0" tIns="0" rIns="0" bIns="0" rtlCol="0" anchor="ctr"/>
          <a:lstStyle/>
          <a:p>
            <a:pPr indent="0" marL="0">
              <a:buNone/>
            </a:pPr>
            <a:r>
              <a:rPr lang="en-US" sz="1000" dirty="0">
                <a:solidFill>
                  <a:srgbClr val="6C7F85"/>
                </a:solidFill>
                <a:latin typeface="Calibri" pitchFamily="34" charset="0"/>
                <a:ea typeface="Calibri" pitchFamily="34" charset="-122"/>
                <a:cs typeface="Calibri" pitchFamily="34" charset="-120"/>
              </a:rPr>
              <a:t>until NLP is whole</a:t>
            </a:r>
            <a:endParaRPr lang="en-US" sz="1000" dirty="0"/>
          </a:p>
        </p:txBody>
      </p:sp>
      <p:sp>
        <p:nvSpPr>
          <p:cNvPr id="16" name="Shape 14"/>
          <p:cNvSpPr/>
          <p:nvPr/>
        </p:nvSpPr>
        <p:spPr>
          <a:xfrm>
            <a:off x="9144000" y="3246120"/>
            <a:ext cx="2423160" cy="566928"/>
          </a:xfrm>
          <a:prstGeom prst="roundRect">
            <a:avLst>
              <a:gd name="adj" fmla="val 4839"/>
            </a:avLst>
          </a:prstGeom>
          <a:solidFill>
            <a:srgbClr val="F1F4F4"/>
          </a:solidFill>
          <a:ln w="12700">
            <a:solidFill>
              <a:srgbClr val="D5DCDD"/>
            </a:solidFill>
            <a:prstDash val="solid"/>
          </a:ln>
        </p:spPr>
      </p:sp>
      <p:sp>
        <p:nvSpPr>
          <p:cNvPr id="17" name="Shape 15"/>
          <p:cNvSpPr/>
          <p:nvPr/>
        </p:nvSpPr>
        <p:spPr>
          <a:xfrm>
            <a:off x="9144000" y="3977640"/>
            <a:ext cx="2423160" cy="566928"/>
          </a:xfrm>
          <a:prstGeom prst="roundRect">
            <a:avLst>
              <a:gd name="adj" fmla="val 4839"/>
            </a:avLst>
          </a:prstGeom>
          <a:solidFill>
            <a:srgbClr val="F1F4F4"/>
          </a:solidFill>
          <a:ln w="12700">
            <a:solidFill>
              <a:srgbClr val="D5DCDD"/>
            </a:solidFill>
            <a:prstDash val="solid"/>
          </a:ln>
        </p:spPr>
      </p:sp>
      <p:sp>
        <p:nvSpPr>
          <p:cNvPr id="18" name="Shape 16"/>
          <p:cNvSpPr/>
          <p:nvPr/>
        </p:nvSpPr>
        <p:spPr>
          <a:xfrm>
            <a:off x="9144000" y="4709160"/>
            <a:ext cx="2423160" cy="566928"/>
          </a:xfrm>
          <a:prstGeom prst="roundRect">
            <a:avLst>
              <a:gd name="adj" fmla="val 4839"/>
            </a:avLst>
          </a:prstGeom>
          <a:solidFill>
            <a:srgbClr val="F1F4F4"/>
          </a:solidFill>
          <a:ln w="12700">
            <a:solidFill>
              <a:srgbClr val="D5DCDD"/>
            </a:solidFill>
            <a:prstDash val="solid"/>
          </a:ln>
        </p:spPr>
      </p:sp>
      <p:sp>
        <p:nvSpPr>
          <p:cNvPr id="19" name="Text 17"/>
          <p:cNvSpPr txBox="1"/>
          <p:nvPr/>
        </p:nvSpPr>
        <p:spPr>
          <a:xfrm>
            <a:off x="9281160" y="3364992"/>
            <a:ext cx="1325880" cy="274320"/>
          </a:xfrm>
          <a:prstGeom prst="rect">
            <a:avLst/>
          </a:prstGeom>
          <a:noFill/>
          <a:ln/>
        </p:spPr>
        <p:txBody>
          <a:bodyPr wrap="square" lIns="0" tIns="0" rIns="0" bIns="0" rtlCol="0" anchor="ctr"/>
          <a:lstStyle/>
          <a:p>
            <a:pPr indent="0" marL="0">
              <a:buNone/>
            </a:pPr>
            <a:r>
              <a:rPr lang="en-US" sz="1150" b="1" dirty="0">
                <a:solidFill>
                  <a:srgbClr val="0F1E22"/>
                </a:solidFill>
                <a:latin typeface="Calibri" pitchFamily="34" charset="0"/>
                <a:ea typeface="Calibri" pitchFamily="34" charset="-122"/>
                <a:cs typeface="Calibri" pitchFamily="34" charset="-120"/>
              </a:rPr>
              <a:t>Class A · GP</a:t>
            </a:r>
            <a:endParaRPr lang="en-US" sz="1150" dirty="0"/>
          </a:p>
        </p:txBody>
      </p:sp>
      <p:sp>
        <p:nvSpPr>
          <p:cNvPr id="20" name="Text 18"/>
          <p:cNvSpPr txBox="1"/>
          <p:nvPr/>
        </p:nvSpPr>
        <p:spPr>
          <a:xfrm>
            <a:off x="9281160" y="4096512"/>
            <a:ext cx="1325880" cy="274320"/>
          </a:xfrm>
          <a:prstGeom prst="rect">
            <a:avLst/>
          </a:prstGeom>
          <a:noFill/>
          <a:ln/>
        </p:spPr>
        <p:txBody>
          <a:bodyPr wrap="square" lIns="0" tIns="0" rIns="0" bIns="0" rtlCol="0" anchor="ctr"/>
          <a:lstStyle/>
          <a:p>
            <a:pPr indent="0" marL="0">
              <a:buNone/>
            </a:pPr>
            <a:r>
              <a:rPr lang="en-US" sz="1150" b="1" dirty="0">
                <a:solidFill>
                  <a:srgbClr val="0F1E22"/>
                </a:solidFill>
                <a:latin typeface="Calibri" pitchFamily="34" charset="0"/>
                <a:ea typeface="Calibri" pitchFamily="34" charset="-122"/>
                <a:cs typeface="Calibri" pitchFamily="34" charset="-120"/>
              </a:rPr>
              <a:t>Class B1 · LPs</a:t>
            </a:r>
            <a:endParaRPr lang="en-US" sz="1150" dirty="0"/>
          </a:p>
        </p:txBody>
      </p:sp>
      <p:sp>
        <p:nvSpPr>
          <p:cNvPr id="21" name="Text 19"/>
          <p:cNvSpPr txBox="1"/>
          <p:nvPr/>
        </p:nvSpPr>
        <p:spPr>
          <a:xfrm>
            <a:off x="9281160" y="4828032"/>
            <a:ext cx="1325880" cy="274320"/>
          </a:xfrm>
          <a:prstGeom prst="rect">
            <a:avLst/>
          </a:prstGeom>
          <a:noFill/>
          <a:ln/>
        </p:spPr>
        <p:txBody>
          <a:bodyPr wrap="square" lIns="0" tIns="0" rIns="0" bIns="0" rtlCol="0" anchor="ctr"/>
          <a:lstStyle/>
          <a:p>
            <a:pPr indent="0" marL="0">
              <a:buNone/>
            </a:pPr>
            <a:r>
              <a:rPr lang="en-US" sz="1150" b="1" dirty="0">
                <a:solidFill>
                  <a:srgbClr val="0F1E22"/>
                </a:solidFill>
                <a:latin typeface="Calibri" pitchFamily="34" charset="0"/>
                <a:ea typeface="Calibri" pitchFamily="34" charset="-122"/>
                <a:cs typeface="Calibri" pitchFamily="34" charset="-120"/>
              </a:rPr>
              <a:t>Class B2 · NLPF</a:t>
            </a:r>
            <a:endParaRPr lang="en-US" sz="1150" dirty="0"/>
          </a:p>
        </p:txBody>
      </p:sp>
      <p:sp>
        <p:nvSpPr>
          <p:cNvPr id="22" name="Shape 20"/>
          <p:cNvSpPr/>
          <p:nvPr/>
        </p:nvSpPr>
        <p:spPr>
          <a:xfrm flipV="1">
            <a:off x="2514600" y="2194560"/>
            <a:ext cx="731520" cy="1005840"/>
          </a:xfrm>
          <a:prstGeom prst="line">
            <a:avLst/>
          </a:prstGeom>
          <a:noFill/>
          <a:ln w="15875">
            <a:solidFill>
              <a:srgbClr val="3A4A50"/>
            </a:solidFill>
            <a:prstDash val="solid"/>
            <a:tailEnd type="triangle"/>
          </a:ln>
        </p:spPr>
      </p:sp>
      <p:sp>
        <p:nvSpPr>
          <p:cNvPr id="23" name="Shape 21"/>
          <p:cNvSpPr/>
          <p:nvPr/>
        </p:nvSpPr>
        <p:spPr>
          <a:xfrm>
            <a:off x="2514600" y="3566160"/>
            <a:ext cx="731520" cy="914400"/>
          </a:xfrm>
          <a:prstGeom prst="line">
            <a:avLst/>
          </a:prstGeom>
          <a:noFill/>
          <a:ln w="15875">
            <a:solidFill>
              <a:srgbClr val="3A4A50"/>
            </a:solidFill>
            <a:prstDash val="solid"/>
            <a:tailEnd type="triangle"/>
          </a:ln>
        </p:spPr>
      </p:sp>
      <p:sp>
        <p:nvSpPr>
          <p:cNvPr id="24" name="Shape 22"/>
          <p:cNvSpPr/>
          <p:nvPr/>
        </p:nvSpPr>
        <p:spPr>
          <a:xfrm>
            <a:off x="5623560" y="4498848"/>
            <a:ext cx="548640" cy="0"/>
          </a:xfrm>
          <a:prstGeom prst="line">
            <a:avLst/>
          </a:prstGeom>
          <a:noFill/>
          <a:ln w="15875">
            <a:solidFill>
              <a:srgbClr val="3A4A50"/>
            </a:solidFill>
            <a:prstDash val="solid"/>
            <a:tailEnd type="triangle"/>
          </a:ln>
        </p:spPr>
      </p:sp>
      <p:sp>
        <p:nvSpPr>
          <p:cNvPr id="25" name="Shape 23"/>
          <p:cNvSpPr/>
          <p:nvPr/>
        </p:nvSpPr>
        <p:spPr>
          <a:xfrm flipV="1">
            <a:off x="8458200" y="3529584"/>
            <a:ext cx="685800" cy="969264"/>
          </a:xfrm>
          <a:prstGeom prst="line">
            <a:avLst/>
          </a:prstGeom>
          <a:noFill/>
          <a:ln w="15875">
            <a:solidFill>
              <a:srgbClr val="3A4A50"/>
            </a:solidFill>
            <a:prstDash val="solid"/>
            <a:tailEnd type="triangle"/>
          </a:ln>
        </p:spPr>
      </p:sp>
      <p:sp>
        <p:nvSpPr>
          <p:cNvPr id="26" name="Shape 24"/>
          <p:cNvSpPr/>
          <p:nvPr/>
        </p:nvSpPr>
        <p:spPr>
          <a:xfrm flipV="1">
            <a:off x="8458200" y="4261104"/>
            <a:ext cx="685800" cy="237744"/>
          </a:xfrm>
          <a:prstGeom prst="line">
            <a:avLst/>
          </a:prstGeom>
          <a:noFill/>
          <a:ln w="15875">
            <a:solidFill>
              <a:srgbClr val="3A4A50"/>
            </a:solidFill>
            <a:prstDash val="solid"/>
            <a:tailEnd type="triangle"/>
          </a:ln>
        </p:spPr>
      </p:sp>
      <p:sp>
        <p:nvSpPr>
          <p:cNvPr id="27" name="Shape 25"/>
          <p:cNvSpPr/>
          <p:nvPr/>
        </p:nvSpPr>
        <p:spPr>
          <a:xfrm>
            <a:off x="8458200" y="4498848"/>
            <a:ext cx="685800" cy="493776"/>
          </a:xfrm>
          <a:prstGeom prst="line">
            <a:avLst/>
          </a:prstGeom>
          <a:noFill/>
          <a:ln w="15875">
            <a:solidFill>
              <a:srgbClr val="3A4A50"/>
            </a:solidFill>
            <a:prstDash val="solid"/>
            <a:tailEnd type="triangle"/>
          </a:ln>
        </p:spPr>
      </p:sp>
      <p:sp>
        <p:nvSpPr>
          <p:cNvPr id="28" name="Text 26"/>
          <p:cNvSpPr txBox="1"/>
          <p:nvPr/>
        </p:nvSpPr>
        <p:spPr>
          <a:xfrm>
            <a:off x="2606040" y="2606040"/>
            <a:ext cx="822960" cy="237744"/>
          </a:xfrm>
          <a:prstGeom prst="rect">
            <a:avLst/>
          </a:prstGeom>
          <a:noFill/>
          <a:ln/>
        </p:spPr>
        <p:txBody>
          <a:bodyPr wrap="square" lIns="0" tIns="0" rIns="0" bIns="0" rtlCol="0" anchor="ctr"/>
          <a:lstStyle/>
          <a:p>
            <a:pPr indent="0" marL="0">
              <a:buNone/>
            </a:pPr>
            <a:r>
              <a:rPr lang="en-US" sz="1200" b="1" dirty="0">
                <a:solidFill>
                  <a:srgbClr val="96501F"/>
                </a:solidFill>
                <a:latin typeface="Calibri" pitchFamily="34" charset="0"/>
                <a:ea typeface="Calibri" pitchFamily="34" charset="-122"/>
                <a:cs typeface="Calibri" pitchFamily="34" charset="-120"/>
              </a:rPr>
              <a:t>12.69%</a:t>
            </a:r>
            <a:endParaRPr lang="en-US" sz="1200" dirty="0"/>
          </a:p>
        </p:txBody>
      </p:sp>
      <p:sp>
        <p:nvSpPr>
          <p:cNvPr id="29" name="Text 27"/>
          <p:cNvSpPr txBox="1"/>
          <p:nvPr/>
        </p:nvSpPr>
        <p:spPr>
          <a:xfrm>
            <a:off x="2606040" y="3803904"/>
            <a:ext cx="822960" cy="237744"/>
          </a:xfrm>
          <a:prstGeom prst="rect">
            <a:avLst/>
          </a:prstGeom>
          <a:noFill/>
          <a:ln/>
        </p:spPr>
        <p:txBody>
          <a:bodyPr wrap="square" lIns="0" tIns="0" rIns="0" bIns="0" rtlCol="0" anchor="ctr"/>
          <a:lstStyle/>
          <a:p>
            <a:pPr indent="0" marL="0">
              <a:buNone/>
            </a:pPr>
            <a:r>
              <a:rPr lang="en-US" sz="1200" b="1" dirty="0">
                <a:solidFill>
                  <a:srgbClr val="0D6068"/>
                </a:solidFill>
                <a:latin typeface="Calibri" pitchFamily="34" charset="0"/>
                <a:ea typeface="Calibri" pitchFamily="34" charset="-122"/>
                <a:cs typeface="Calibri" pitchFamily="34" charset="-120"/>
              </a:rPr>
              <a:t>87.31%</a:t>
            </a:r>
            <a:endParaRPr lang="en-US" sz="1200" dirty="0"/>
          </a:p>
        </p:txBody>
      </p:sp>
      <p:sp>
        <p:nvSpPr>
          <p:cNvPr id="30" name="Text 28"/>
          <p:cNvSpPr txBox="1"/>
          <p:nvPr/>
        </p:nvSpPr>
        <p:spPr>
          <a:xfrm>
            <a:off x="5394960" y="3803904"/>
            <a:ext cx="1920240" cy="237744"/>
          </a:xfrm>
          <a:prstGeom prst="rect">
            <a:avLst/>
          </a:prstGeom>
          <a:noFill/>
          <a:ln/>
        </p:spPr>
        <p:txBody>
          <a:bodyPr wrap="square" lIns="0" tIns="0" rIns="0" bIns="0" rtlCol="0" anchor="ctr"/>
          <a:lstStyle/>
          <a:p>
            <a:pPr algn="ctr" indent="0" marL="0">
              <a:buNone/>
            </a:pPr>
            <a:r>
              <a:rPr lang="en-US" sz="1100" dirty="0">
                <a:solidFill>
                  <a:srgbClr val="6C7F85"/>
                </a:solidFill>
                <a:latin typeface="Calibri" pitchFamily="34" charset="0"/>
                <a:ea typeface="Calibri" pitchFamily="34" charset="-122"/>
                <a:cs typeface="Calibri" pitchFamily="34" charset="-120"/>
              </a:rPr>
              <a:t>100% until repaid</a:t>
            </a:r>
            <a:endParaRPr lang="en-US" sz="1100" dirty="0"/>
          </a:p>
        </p:txBody>
      </p:sp>
      <p:sp>
        <p:nvSpPr>
          <p:cNvPr id="31" name="Text 29"/>
          <p:cNvSpPr txBox="1"/>
          <p:nvPr/>
        </p:nvSpPr>
        <p:spPr>
          <a:xfrm>
            <a:off x="8778240" y="2834640"/>
            <a:ext cx="2834640" cy="237744"/>
          </a:xfrm>
          <a:prstGeom prst="rect">
            <a:avLst/>
          </a:prstGeom>
          <a:noFill/>
          <a:ln/>
        </p:spPr>
        <p:txBody>
          <a:bodyPr wrap="square" lIns="0" tIns="0" rIns="0" bIns="0" rtlCol="0" anchor="ctr"/>
          <a:lstStyle/>
          <a:p>
            <a:pPr algn="ctr" indent="0" marL="0">
              <a:buNone/>
            </a:pPr>
            <a:r>
              <a:rPr lang="en-US" sz="1100" dirty="0">
                <a:solidFill>
                  <a:srgbClr val="6C7F85"/>
                </a:solidFill>
                <a:latin typeface="Calibri" pitchFamily="34" charset="0"/>
                <a:ea typeface="Calibri" pitchFamily="34" charset="-122"/>
                <a:cs typeface="Calibri" pitchFamily="34" charset="-120"/>
              </a:rPr>
              <a:t>once the $35M is repaid</a:t>
            </a:r>
            <a:endParaRPr lang="en-US" sz="1100" dirty="0"/>
          </a:p>
        </p:txBody>
      </p:sp>
      <p:sp>
        <p:nvSpPr>
          <p:cNvPr id="32" name="Text 30"/>
          <p:cNvSpPr txBox="1"/>
          <p:nvPr/>
        </p:nvSpPr>
        <p:spPr>
          <a:xfrm>
            <a:off x="10716768" y="3364992"/>
            <a:ext cx="804672" cy="274320"/>
          </a:xfrm>
          <a:prstGeom prst="rect">
            <a:avLst/>
          </a:prstGeom>
          <a:noFill/>
          <a:ln/>
        </p:spPr>
        <p:txBody>
          <a:bodyPr wrap="square" lIns="0" tIns="0" rIns="0" bIns="0" rtlCol="0" anchor="ctr"/>
          <a:lstStyle/>
          <a:p>
            <a:pPr algn="r" indent="0" marL="0">
              <a:buNone/>
            </a:pPr>
            <a:r>
              <a:rPr lang="en-US" sz="1200" b="1" dirty="0">
                <a:solidFill>
                  <a:srgbClr val="3A4A50"/>
                </a:solidFill>
                <a:latin typeface="Calibri" pitchFamily="34" charset="0"/>
                <a:ea typeface="Calibri" pitchFamily="34" charset="-122"/>
                <a:cs typeface="Calibri" pitchFamily="34" charset="-120"/>
              </a:rPr>
              <a:t>31.4%</a:t>
            </a:r>
            <a:endParaRPr lang="en-US" sz="1200" dirty="0"/>
          </a:p>
        </p:txBody>
      </p:sp>
      <p:sp>
        <p:nvSpPr>
          <p:cNvPr id="33" name="Text 31"/>
          <p:cNvSpPr txBox="1"/>
          <p:nvPr/>
        </p:nvSpPr>
        <p:spPr>
          <a:xfrm>
            <a:off x="10716768" y="4096512"/>
            <a:ext cx="804672" cy="274320"/>
          </a:xfrm>
          <a:prstGeom prst="rect">
            <a:avLst/>
          </a:prstGeom>
          <a:noFill/>
          <a:ln/>
        </p:spPr>
        <p:txBody>
          <a:bodyPr wrap="square" lIns="0" tIns="0" rIns="0" bIns="0" rtlCol="0" anchor="ctr"/>
          <a:lstStyle/>
          <a:p>
            <a:pPr algn="r" indent="0" marL="0">
              <a:buNone/>
            </a:pPr>
            <a:r>
              <a:rPr lang="en-US" sz="1200" b="1" dirty="0">
                <a:solidFill>
                  <a:srgbClr val="3A4A50"/>
                </a:solidFill>
                <a:latin typeface="Calibri" pitchFamily="34" charset="0"/>
                <a:ea typeface="Calibri" pitchFamily="34" charset="-122"/>
                <a:cs typeface="Calibri" pitchFamily="34" charset="-120"/>
              </a:rPr>
              <a:t>54.5%</a:t>
            </a:r>
            <a:endParaRPr lang="en-US" sz="1200" dirty="0"/>
          </a:p>
        </p:txBody>
      </p:sp>
      <p:sp>
        <p:nvSpPr>
          <p:cNvPr id="34" name="Text 32"/>
          <p:cNvSpPr txBox="1"/>
          <p:nvPr/>
        </p:nvSpPr>
        <p:spPr>
          <a:xfrm>
            <a:off x="10716768" y="4828032"/>
            <a:ext cx="804672" cy="274320"/>
          </a:xfrm>
          <a:prstGeom prst="rect">
            <a:avLst/>
          </a:prstGeom>
          <a:noFill/>
          <a:ln/>
        </p:spPr>
        <p:txBody>
          <a:bodyPr wrap="square" lIns="0" tIns="0" rIns="0" bIns="0" rtlCol="0" anchor="ctr"/>
          <a:lstStyle/>
          <a:p>
            <a:pPr algn="r" indent="0" marL="0">
              <a:buNone/>
            </a:pPr>
            <a:r>
              <a:rPr lang="en-US" sz="1200" b="1" dirty="0">
                <a:solidFill>
                  <a:srgbClr val="3A4A50"/>
                </a:solidFill>
                <a:latin typeface="Calibri" pitchFamily="34" charset="0"/>
                <a:ea typeface="Calibri" pitchFamily="34" charset="-122"/>
                <a:cs typeface="Calibri" pitchFamily="34" charset="-120"/>
              </a:rPr>
              <a:t>1.4%</a:t>
            </a:r>
            <a:endParaRPr lang="en-US" sz="1200" dirty="0"/>
          </a:p>
        </p:txBody>
      </p:sp>
      <p:sp>
        <p:nvSpPr>
          <p:cNvPr id="35" name="Text 33"/>
          <p:cNvSpPr txBox="1"/>
          <p:nvPr/>
        </p:nvSpPr>
        <p:spPr>
          <a:xfrm>
            <a:off x="594360" y="5715000"/>
            <a:ext cx="10789920" cy="731520"/>
          </a:xfrm>
          <a:prstGeom prst="rect">
            <a:avLst/>
          </a:prstGeom>
          <a:noFill/>
          <a:ln/>
        </p:spPr>
        <p:txBody>
          <a:bodyPr wrap="square" lIns="0" tIns="0" rIns="0" bIns="0" rtlCol="0" anchor="ctr"/>
          <a:lstStyle/>
          <a:p>
            <a:pPr indent="0" marL="0">
              <a:lnSpc>
                <a:spcPts val="2000"/>
              </a:lnSpc>
              <a:buNone/>
            </a:pPr>
            <a:r>
              <a:rPr lang="en-US" sz="1300" dirty="0">
                <a:solidFill>
                  <a:srgbClr val="3A4A50"/>
                </a:solidFill>
                <a:latin typeface="Calibri" pitchFamily="34" charset="0"/>
                <a:ea typeface="Calibri" pitchFamily="34" charset="-122"/>
                <a:cs typeface="Calibri" pitchFamily="34" charset="-120"/>
              </a:rPr>
              <a:t>NLPI's slice comes off the top, at the company, before the fund sees the money. SB2's share pays the preference in full before Class A, the old LPs, or the feeder's own Class B2 receive anything.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6 · THE WORKED EXAMPLE</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$35M of exits repays NLP exactly, to the cent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4572000"/>
                <a:gridCol w="1554480"/>
                <a:gridCol w="1554480"/>
                <a:gridCol w="1554480"/>
                <a:gridCol w="1737360"/>
              </a:tblGrid>
              <a:tr h="475488">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EXIT</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CHEQUE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TO NLPI</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TO SB2</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PRIORITY LEFT</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r>
              <a:tr h="475488">
                <a:tc>
                  <a:txBody>
                    <a:bodyPr/>
                    <a:lstStyle/>
                    <a:p>
                      <a:pPr indent="0" marL="0">
                        <a:buNone/>
                      </a:pPr>
                      <a:r>
                        <a:rPr lang="en-US" sz="1300" b="1" dirty="0">
                          <a:solidFill>
                            <a:srgbClr val="0F1E22"/>
                          </a:solidFill>
                          <a:latin typeface="Calibri" pitchFamily="34" charset="0"/>
                          <a:ea typeface="Calibri" pitchFamily="34" charset="-122"/>
                          <a:cs typeface="Calibri" pitchFamily="34" charset="-120"/>
                        </a:rPr>
                        <a:t>WheelsEye · 2.5% of the company at $800M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$20.00M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$2.54M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$17.46M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$15.00M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75488">
                <a:tc>
                  <a:txBody>
                    <a:bodyPr/>
                    <a:lstStyle/>
                    <a:p>
                      <a:pPr indent="0" marL="0">
                        <a:buNone/>
                      </a:pPr>
                      <a:r>
                        <a:rPr lang="en-US" sz="1300" b="1" dirty="0">
                          <a:solidFill>
                            <a:srgbClr val="0F1E22"/>
                          </a:solidFill>
                          <a:latin typeface="Calibri" pitchFamily="34" charset="0"/>
                          <a:ea typeface="Calibri" pitchFamily="34" charset="-122"/>
                          <a:cs typeface="Calibri" pitchFamily="34" charset="-120"/>
                        </a:rPr>
                        <a:t>Niyo · first $15M of a $25M secondary</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$15.00M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$1.90M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$13.10M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nil</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75488">
                <a:tc>
                  <a:txBody>
                    <a:bodyPr/>
                    <a:lstStyle/>
                    <a:p>
                      <a:pPr indent="0" marL="0">
                        <a:buNone/>
                      </a:pPr>
                      <a:r>
                        <a:rPr lang="en-US" sz="1300" b="1" dirty="0">
                          <a:solidFill>
                            <a:srgbClr val="0D6068"/>
                          </a:solidFill>
                          <a:latin typeface="Calibri" pitchFamily="34" charset="0"/>
                          <a:ea typeface="Calibri" pitchFamily="34" charset="-122"/>
                          <a:cs typeface="Calibri" pitchFamily="34" charset="-120"/>
                        </a:rPr>
                        <a:t>NLP's 1x</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$35.00M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$4.44M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$30.56M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satisfied</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r>
            </a:tbl>
          </a:graphicData>
        </a:graphic>
      </p:graphicFrame>
      <p:sp>
        <p:nvSpPr>
          <p:cNvPr id="5" name="Text 2"/>
          <p:cNvSpPr txBox="1"/>
          <p:nvPr/>
        </p:nvSpPr>
        <p:spPr>
          <a:xfrm>
            <a:off x="594360" y="3840480"/>
            <a:ext cx="10607040" cy="91440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Every dollar of these two exits goes to NLP — $4.44M paid directly at the companies, $30.56M through the preference. Nothing reaches the GP or the old LPs yet. On WheelsEye, NLPI sells 2.5% × 12.69% = 0.317% of the company and SB2 sells 2.183%.</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7 · AND FROM THEN ON</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Every exit after that splits four ways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3657600"/>
                <a:gridCol w="2743200"/>
                <a:gridCol w="2011680"/>
                <a:gridCol w="2560320"/>
              </a:tblGrid>
              <a:tr h="457200">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ON THE NEXT $10M OF NIYO</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SHARE OF THE CHEQUE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AMOUNT</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PAID BY</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96501F"/>
                          </a:solidFill>
                          <a:latin typeface="Calibri" pitchFamily="34" charset="0"/>
                          <a:ea typeface="Calibri" pitchFamily="34" charset="-122"/>
                          <a:cs typeface="Calibri" pitchFamily="34" charset="-120"/>
                        </a:rPr>
                        <a:t>NLPI · direct</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12.69%</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$1.27M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the buyer, at the company</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57200">
                <a:tc>
                  <a:txBody>
                    <a:bodyPr/>
                    <a:lstStyle/>
                    <a:p>
                      <a:pPr indent="0" marL="0">
                        <a:buNone/>
                      </a:pPr>
                      <a:r>
                        <a:rPr lang="en-US" sz="1300" b="1" dirty="0">
                          <a:solidFill>
                            <a:srgbClr val="0D6068"/>
                          </a:solidFill>
                          <a:latin typeface="Calibri" pitchFamily="34" charset="0"/>
                          <a:ea typeface="Calibri" pitchFamily="34" charset="-122"/>
                          <a:cs typeface="Calibri" pitchFamily="34" charset="-120"/>
                        </a:rPr>
                        <a:t>Class A · GP</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31.40%</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$3.14M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the fund</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57200">
                <a:tc>
                  <a:txBody>
                    <a:bodyPr/>
                    <a:lstStyle/>
                    <a:p>
                      <a:pPr indent="0" marL="0">
                        <a:buNone/>
                      </a:pPr>
                      <a:r>
                        <a:rPr lang="en-US" sz="1300" b="1" dirty="0">
                          <a:solidFill>
                            <a:srgbClr val="0F1E22"/>
                          </a:solidFill>
                          <a:latin typeface="Calibri" pitchFamily="34" charset="0"/>
                          <a:ea typeface="Calibri" pitchFamily="34" charset="-122"/>
                          <a:cs typeface="Calibri" pitchFamily="34" charset="-120"/>
                        </a:rPr>
                        <a:t>Class B1 · old LPs</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54.50%</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$5.45M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the fund</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57200">
                <a:tc>
                  <a:txBody>
                    <a:bodyPr/>
                    <a:lstStyle/>
                    <a:p>
                      <a:pPr indent="0" marL="0">
                        <a:buNone/>
                      </a:pPr>
                      <a:r>
                        <a:rPr lang="en-US" sz="1300" b="1" dirty="0">
                          <a:solidFill>
                            <a:srgbClr val="96501F"/>
                          </a:solidFill>
                          <a:latin typeface="Calibri" pitchFamily="34" charset="0"/>
                          <a:ea typeface="Calibri" pitchFamily="34" charset="-122"/>
                          <a:cs typeface="Calibri" pitchFamily="34" charset="-120"/>
                        </a:rPr>
                        <a:t>Class B2 · NLPF</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1.41%</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300" dirty="0">
                          <a:solidFill>
                            <a:srgbClr val="3A4A50"/>
                          </a:solidFill>
                          <a:latin typeface="Calibri" pitchFamily="34" charset="0"/>
                          <a:ea typeface="Calibri" pitchFamily="34" charset="-122"/>
                          <a:cs typeface="Calibri" pitchFamily="34" charset="-120"/>
                        </a:rPr>
                        <a:t>$0.14M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the fund</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57200">
                <a:tc>
                  <a:txBody>
                    <a:bodyPr/>
                    <a:lstStyle/>
                    <a:p>
                      <a:pPr indent="0" marL="0">
                        <a:buNone/>
                      </a:pPr>
                      <a:r>
                        <a:rPr lang="en-US" sz="1300" b="1" dirty="0">
                          <a:solidFill>
                            <a:srgbClr val="0D6068"/>
                          </a:solidFill>
                          <a:latin typeface="Calibri" pitchFamily="34" charset="0"/>
                          <a:ea typeface="Calibri" pitchFamily="34" charset="-122"/>
                          <a:cs typeface="Calibri" pitchFamily="34" charset="-120"/>
                        </a:rPr>
                        <a:t>NLP, all in</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14.10%</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300" b="1" dirty="0">
                          <a:solidFill>
                            <a:srgbClr val="0D6068"/>
                          </a:solidFill>
                          <a:latin typeface="Calibri" pitchFamily="34" charset="0"/>
                          <a:ea typeface="Calibri" pitchFamily="34" charset="-122"/>
                          <a:cs typeface="Calibri" pitchFamily="34" charset="-120"/>
                        </a:rPr>
                        <a:t>$1.41M</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r>
            </a:tbl>
          </a:graphicData>
        </a:graphic>
      </p:graphicFrame>
      <p:sp>
        <p:nvSpPr>
          <p:cNvPr id="5" name="Text 2"/>
          <p:cNvSpPr txBox="1"/>
          <p:nvPr/>
        </p:nvSpPr>
        <p:spPr>
          <a:xfrm>
            <a:off x="594360" y="4709160"/>
            <a:ext cx="10607040" cy="82296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The preference is spent, so NLPF drops back to being an ordinary Class B holder — a participating preference, in other words. The buyer still writes two cheques at every exit, because NLPI's shares are its own.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STEP 8 · WHAT KEEPS EVERY NUMBER A CONSTANT</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The put/call keeps NLPI's 12.69% uniform</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2926080"/>
                <a:gridCol w="4206240"/>
                <a:gridCol w="3840480"/>
              </a:tblGrid>
              <a:tr h="566928">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PORTCO DOMICILE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HOW NLPI HOLDS ITS SLICE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AT EXIT</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F1E22"/>
                          </a:solidFill>
                          <a:latin typeface="Calibri" pitchFamily="34" charset="0"/>
                          <a:ea typeface="Calibri" pitchFamily="34" charset="-122"/>
                          <a:cs typeface="Calibri" pitchFamily="34" charset="-120"/>
                        </a:rPr>
                        <a:t>India</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shares held directly, onshore</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NLPI is a selling shareholder, paid in India</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566928">
                <a:tc>
                  <a:txBody>
                    <a:bodyPr/>
                    <a:lstStyle/>
                    <a:p>
                      <a:pPr indent="0" marL="0">
                        <a:buNone/>
                      </a:pPr>
                      <a:r>
                        <a:rPr lang="en-US" sz="1300" b="1" dirty="0">
                          <a:solidFill>
                            <a:srgbClr val="0F1E22"/>
                          </a:solidFill>
                          <a:latin typeface="Calibri" pitchFamily="34" charset="0"/>
                          <a:ea typeface="Calibri" pitchFamily="34" charset="-122"/>
                          <a:cs typeface="Calibri" pitchFamily="34" charset="-120"/>
                        </a:rPr>
                        <a:t>Delaware · Singapore</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a put/call at the company level, in the SHA</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indent="0" marL="0">
                        <a:buNone/>
                      </a:pPr>
                      <a:r>
                        <a:rPr lang="en-US" sz="1300" dirty="0">
                          <a:solidFill>
                            <a:srgbClr val="3A4A50"/>
                          </a:solidFill>
                          <a:latin typeface="Calibri" pitchFamily="34" charset="0"/>
                          <a:ea typeface="Calibri" pitchFamily="34" charset="-122"/>
                          <a:cs typeface="Calibri" pitchFamily="34" charset="-120"/>
                        </a:rPr>
                        <a:t>the same slice, delivered under the SHA</a:t>
                      </a:r>
                      <a:endParaRPr lang="en-US" sz="13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bl>
          </a:graphicData>
        </a:graphic>
      </p:graphicFrame>
      <p:sp>
        <p:nvSpPr>
          <p:cNvPr id="5" name="Text 2"/>
          <p:cNvSpPr txBox="1"/>
          <p:nvPr/>
        </p:nvSpPr>
        <p:spPr>
          <a:xfrm>
            <a:off x="594360" y="3703320"/>
            <a:ext cx="10607040" cy="109728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NLPI is an India fund. It can hold shares directly in the India-domiciled portcos, but not in the Delaware and Singapore ones — where the same slice reaches it through a put/call written into the company's shareholder agreement. So the buyer writes two cheques at every exit, whatever the domicile.</a:t>
            </a:r>
            <a:endParaRPr lang="en-US" sz="1400" dirty="0"/>
          </a:p>
        </p:txBody>
      </p:sp>
      <p:sp>
        <p:nvSpPr>
          <p:cNvPr id="6" name="Shape 3"/>
          <p:cNvSpPr/>
          <p:nvPr/>
        </p:nvSpPr>
        <p:spPr>
          <a:xfrm>
            <a:off x="594360" y="5029200"/>
            <a:ext cx="10972800" cy="868680"/>
          </a:xfrm>
          <a:prstGeom prst="roundRect">
            <a:avLst>
              <a:gd name="adj" fmla="val 3158"/>
            </a:avLst>
          </a:prstGeom>
          <a:solidFill>
            <a:srgbClr val="F6EFE8"/>
          </a:solidFill>
          <a:ln w="12700">
            <a:solidFill>
              <a:srgbClr val="E4D3C4"/>
            </a:solidFill>
            <a:prstDash val="solid"/>
          </a:ln>
        </p:spPr>
      </p:sp>
      <p:sp>
        <p:nvSpPr>
          <p:cNvPr id="7" name="Text 4"/>
          <p:cNvSpPr txBox="1"/>
          <p:nvPr/>
        </p:nvSpPr>
        <p:spPr>
          <a:xfrm>
            <a:off x="795528" y="5138928"/>
            <a:ext cx="10570464" cy="219456"/>
          </a:xfrm>
          <a:prstGeom prst="rect">
            <a:avLst/>
          </a:prstGeom>
          <a:noFill/>
          <a:ln/>
        </p:spPr>
        <p:txBody>
          <a:bodyPr wrap="square" lIns="0" tIns="0" rIns="0" bIns="0" rtlCol="0" anchor="ctr"/>
          <a:lstStyle/>
          <a:p>
            <a:pPr indent="0" marL="0">
              <a:buNone/>
            </a:pPr>
            <a:r>
              <a:rPr lang="en-US" sz="1000" b="1" spc="120" kern="0" dirty="0">
                <a:solidFill>
                  <a:srgbClr val="96501F"/>
                </a:solidFill>
                <a:latin typeface="Calibri" pitchFamily="34" charset="0"/>
                <a:ea typeface="Calibri" pitchFamily="34" charset="-122"/>
                <a:cs typeface="Calibri" pitchFamily="34" charset="-120"/>
              </a:rPr>
              <a:t>WHICH MAKES IT LOAD-BEARING, NOT ADMINISTRATIVE</a:t>
            </a:r>
            <a:endParaRPr lang="en-US" sz="1000" dirty="0"/>
          </a:p>
        </p:txBody>
      </p:sp>
      <p:sp>
        <p:nvSpPr>
          <p:cNvPr id="8" name="Text 5"/>
          <p:cNvSpPr txBox="1"/>
          <p:nvPr/>
        </p:nvSpPr>
        <p:spPr>
          <a:xfrm>
            <a:off x="795528" y="5358384"/>
            <a:ext cx="10570464" cy="457200"/>
          </a:xfrm>
          <a:prstGeom prst="rect">
            <a:avLst/>
          </a:prstGeom>
          <a:noFill/>
          <a:ln/>
        </p:spPr>
        <p:txBody>
          <a:bodyPr wrap="square" lIns="0" tIns="0" rIns="0" bIns="0" rtlCol="0" anchor="ctr"/>
          <a:lstStyle/>
          <a:p>
            <a:pPr indent="0" marL="0">
              <a:buNone/>
            </a:pPr>
            <a:r>
              <a:rPr lang="en-US" sz="1300" dirty="0">
                <a:solidFill>
                  <a:srgbClr val="4A3524"/>
                </a:solidFill>
                <a:latin typeface="Calibri" pitchFamily="34" charset="0"/>
                <a:ea typeface="Calibri" pitchFamily="34" charset="-122"/>
                <a:cs typeface="Calibri" pitchFamily="34" charset="-120"/>
              </a:rPr>
              <a:t>Without it, the offshore positions would pay NLPI nothing, and neither the preference nor the sharing ratios could be single numbers. Its enforceability, and the tax treatment of a settlement under it, decide what NLPI nets.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THE OPEN STRUCTURING CHOICE</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Routing the $35M: 10% or 20% offshore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737360"/>
          <a:ext cx="10972800" cy="914400"/>
        </p:xfrm>
        <a:graphic>
          <a:graphicData uri="http://schemas.openxmlformats.org/drawingml/2006/table">
            <a:tbl>
              <a:tblPr/>
              <a:tblGrid>
                <a:gridCol w="4937760"/>
                <a:gridCol w="3017520"/>
                <a:gridCol w="3017520"/>
              </a:tblGrid>
              <a:tr h="365760">
                <a:tc>
                  <a:txBody>
                    <a:bodyPr/>
                    <a:lstStyle/>
                    <a:p>
                      <a:pPr algn="l" indent="0" marL="0">
                        <a:buNone/>
                      </a:pP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MODEL A · 10% OFFSHORE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MODEL B · 20% OFFSHORE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NLPF cheque · into SB2 Mauritius</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$3.50M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$7.00M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365760">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NLPI cheque · onshore India</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$31.50M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$28.00M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365760">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x1 · held through the fund</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1.41%</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2.82%</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365760">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x2 · held directly by NLPI</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12.69%</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11.28%</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365760">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Liquidation preference</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$30.56M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$31.05M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365760">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…as a multiple of the NLPF cheque</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b="1" dirty="0">
                          <a:solidFill>
                            <a:srgbClr val="96501F"/>
                          </a:solidFill>
                          <a:latin typeface="Calibri" pitchFamily="34" charset="0"/>
                          <a:ea typeface="Calibri" pitchFamily="34" charset="-122"/>
                          <a:cs typeface="Calibri" pitchFamily="34" charset="-120"/>
                        </a:rPr>
                        <a:t>8.73x</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b="1" dirty="0">
                          <a:solidFill>
                            <a:srgbClr val="96501F"/>
                          </a:solidFill>
                          <a:latin typeface="Calibri" pitchFamily="34" charset="0"/>
                          <a:ea typeface="Calibri" pitchFamily="34" charset="-122"/>
                          <a:cs typeface="Calibri" pitchFamily="34" charset="-120"/>
                        </a:rPr>
                        <a:t>4.44x</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365760">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Class B2's share of SB2's receipts</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3.18%</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365760">
                <a:tc>
                  <a:txBody>
                    <a:bodyPr/>
                    <a:lstStyle/>
                    <a:p>
                      <a:pPr indent="0" marL="0">
                        <a:buNone/>
                      </a:pPr>
                      <a:r>
                        <a:rPr lang="en-US" sz="1200" b="1" dirty="0">
                          <a:solidFill>
                            <a:srgbClr val="0F1E22"/>
                          </a:solidFill>
                          <a:latin typeface="Calibri" pitchFamily="34" charset="0"/>
                          <a:ea typeface="Calibri" pitchFamily="34" charset="-122"/>
                          <a:cs typeface="Calibri" pitchFamily="34" charset="-120"/>
                        </a:rPr>
                        <a:t>Absolute split · A / B1 / NLP</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200" b="1" dirty="0">
                          <a:solidFill>
                            <a:srgbClr val="0D6068"/>
                          </a:solidFill>
                          <a:latin typeface="Calibri" pitchFamily="34" charset="0"/>
                          <a:ea typeface="Calibri" pitchFamily="34" charset="-122"/>
                          <a:cs typeface="Calibri" pitchFamily="34" charset="-120"/>
                        </a:rPr>
                        <a:t>31.4 / 54.5 / 14.1</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200" b="1" dirty="0">
                          <a:solidFill>
                            <a:srgbClr val="0D6068"/>
                          </a:solidFill>
                          <a:latin typeface="Calibri" pitchFamily="34" charset="0"/>
                          <a:ea typeface="Calibri" pitchFamily="34" charset="-122"/>
                          <a:cs typeface="Calibri" pitchFamily="34" charset="-120"/>
                        </a:rPr>
                        <a:t>31.4 / 54.5 / 14.1</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r>
              <a:tr h="365760">
                <a:tc>
                  <a:txBody>
                    <a:bodyPr/>
                    <a:lstStyle/>
                    <a:p>
                      <a:pPr indent="0" marL="0">
                        <a:buNone/>
                      </a:pPr>
                      <a:r>
                        <a:rPr lang="en-US" sz="1200" b="1" dirty="0">
                          <a:solidFill>
                            <a:srgbClr val="0F1E22"/>
                          </a:solidFill>
                          <a:latin typeface="Calibri" pitchFamily="34" charset="0"/>
                          <a:ea typeface="Calibri" pitchFamily="34" charset="-122"/>
                          <a:cs typeface="Calibri" pitchFamily="34" charset="-120"/>
                        </a:rPr>
                        <a:t>Discount to carrying value</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200" b="1" dirty="0">
                          <a:solidFill>
                            <a:srgbClr val="0D6068"/>
                          </a:solidFill>
                          <a:latin typeface="Calibri" pitchFamily="34" charset="0"/>
                          <a:ea typeface="Calibri" pitchFamily="34" charset="-122"/>
                          <a:cs typeface="Calibri" pitchFamily="34" charset="-120"/>
                        </a:rPr>
                        <a:t>31.05%</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c>
                  <a:txBody>
                    <a:bodyPr/>
                    <a:lstStyle/>
                    <a:p>
                      <a:pPr algn="r" indent="0" marL="0">
                        <a:buNone/>
                      </a:pPr>
                      <a:r>
                        <a:rPr lang="en-US" sz="1200" b="1" dirty="0">
                          <a:solidFill>
                            <a:srgbClr val="0D6068"/>
                          </a:solidFill>
                          <a:latin typeface="Calibri" pitchFamily="34" charset="0"/>
                          <a:ea typeface="Calibri" pitchFamily="34" charset="-122"/>
                          <a:cs typeface="Calibri" pitchFamily="34" charset="-120"/>
                        </a:rPr>
                        <a:t>31.05%</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DCECEB"/>
                    </a:solidFill>
                  </a:tcPr>
                </a:tc>
              </a:tr>
            </a:tbl>
          </a:graphicData>
        </a:graphic>
      </p:graphicFrame>
      <p:sp>
        <p:nvSpPr>
          <p:cNvPr id="5" name="Shape 2"/>
          <p:cNvSpPr/>
          <p:nvPr/>
        </p:nvSpPr>
        <p:spPr>
          <a:xfrm>
            <a:off x="594360" y="5532120"/>
            <a:ext cx="10972800" cy="868680"/>
          </a:xfrm>
          <a:prstGeom prst="roundRect">
            <a:avLst>
              <a:gd name="adj" fmla="val 3158"/>
            </a:avLst>
          </a:prstGeom>
          <a:solidFill>
            <a:srgbClr val="F6EFE8"/>
          </a:solidFill>
          <a:ln w="12700">
            <a:solidFill>
              <a:srgbClr val="E4D3C4"/>
            </a:solidFill>
            <a:prstDash val="solid"/>
          </a:ln>
        </p:spPr>
      </p:sp>
      <p:sp>
        <p:nvSpPr>
          <p:cNvPr id="6" name="Text 3"/>
          <p:cNvSpPr txBox="1"/>
          <p:nvPr/>
        </p:nvSpPr>
        <p:spPr>
          <a:xfrm>
            <a:off x="795528" y="5641848"/>
            <a:ext cx="10570464" cy="219456"/>
          </a:xfrm>
          <a:prstGeom prst="rect">
            <a:avLst/>
          </a:prstGeom>
          <a:noFill/>
          <a:ln/>
        </p:spPr>
        <p:txBody>
          <a:bodyPr wrap="square" lIns="0" tIns="0" rIns="0" bIns="0" rtlCol="0" anchor="ctr"/>
          <a:lstStyle/>
          <a:p>
            <a:pPr indent="0" marL="0">
              <a:buNone/>
            </a:pPr>
            <a:r>
              <a:rPr lang="en-US" sz="1000" b="1" spc="120" kern="0" dirty="0">
                <a:solidFill>
                  <a:srgbClr val="96501F"/>
                </a:solidFill>
                <a:latin typeface="Calibri" pitchFamily="34" charset="0"/>
                <a:ea typeface="Calibri" pitchFamily="34" charset="-122"/>
                <a:cs typeface="Calibri" pitchFamily="34" charset="-120"/>
              </a:rPr>
              <a:t>NOTHING ABOUT THE ECONOMICS MOVES</a:t>
            </a:r>
            <a:endParaRPr lang="en-US" sz="1000" dirty="0"/>
          </a:p>
        </p:txBody>
      </p:sp>
      <p:sp>
        <p:nvSpPr>
          <p:cNvPr id="7" name="Text 4"/>
          <p:cNvSpPr txBox="1"/>
          <p:nvPr/>
        </p:nvSpPr>
        <p:spPr>
          <a:xfrm>
            <a:off x="795528" y="5861304"/>
            <a:ext cx="10570464" cy="457200"/>
          </a:xfrm>
          <a:prstGeom prst="rect">
            <a:avLst/>
          </a:prstGeom>
          <a:noFill/>
          <a:ln/>
        </p:spPr>
        <p:txBody>
          <a:bodyPr wrap="square" lIns="0" tIns="0" rIns="0" bIns="0" rtlCol="0" anchor="ctr"/>
          <a:lstStyle/>
          <a:p>
            <a:pPr indent="0" marL="0">
              <a:buNone/>
            </a:pPr>
            <a:r>
              <a:rPr lang="en-US" sz="1300" dirty="0">
                <a:solidFill>
                  <a:srgbClr val="4A3524"/>
                </a:solidFill>
                <a:latin typeface="Calibri" pitchFamily="34" charset="0"/>
                <a:ea typeface="Calibri" pitchFamily="34" charset="-122"/>
                <a:cs typeface="Calibri" pitchFamily="34" charset="-120"/>
              </a:rPr>
              <a:t>Same price, same split, NLP whole at exactly $35M either way. What moves: the preference is the same in dollars but the multiple halves, twice as much of NLP's long-run share is paid through Mauritius, and the onshore purchase drops $3.5M.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0972800" cy="237744"/>
          </a:xfrm>
          <a:prstGeom prst="rect">
            <a:avLst/>
          </a:prstGeom>
          <a:noFill/>
          <a:ln/>
        </p:spPr>
        <p:txBody>
          <a:bodyPr wrap="square" lIns="0" tIns="0" rIns="0" bIns="0" rtlCol="0" anchor="ctr"/>
          <a:lstStyle/>
          <a:p>
            <a:pPr indent="0" marL="0">
              <a:buNone/>
            </a:pPr>
            <a:r>
              <a:rPr lang="en-US" sz="1100" b="1" spc="160" kern="0" dirty="0">
                <a:solidFill>
                  <a:srgbClr val="0D6068"/>
                </a:solidFill>
                <a:latin typeface="Calibri" pitchFamily="34" charset="0"/>
                <a:ea typeface="Calibri" pitchFamily="34" charset="-122"/>
                <a:cs typeface="Calibri" pitchFamily="34" charset="-120"/>
              </a:rPr>
              <a:t>THE TRADE</a:t>
            </a:r>
            <a:endParaRPr lang="en-US" sz="1100" dirty="0"/>
          </a:p>
        </p:txBody>
      </p:sp>
      <p:sp>
        <p:nvSpPr>
          <p:cNvPr id="3" name="Text 1"/>
          <p:cNvSpPr txBox="1"/>
          <p:nvPr/>
        </p:nvSpPr>
        <p:spPr>
          <a:xfrm>
            <a:off x="594360" y="658368"/>
            <a:ext cx="10972800" cy="914400"/>
          </a:xfrm>
          <a:prstGeom prst="rect">
            <a:avLst/>
          </a:prstGeom>
          <a:noFill/>
          <a:ln/>
        </p:spPr>
        <p:txBody>
          <a:bodyPr wrap="square" lIns="0" tIns="0" rIns="0" bIns="0" rtlCol="0" anchor="ctr"/>
          <a:lstStyle/>
          <a:p>
            <a:pPr indent="0" marL="0">
              <a:buNone/>
            </a:pPr>
            <a:r>
              <a:rPr lang="en-US" sz="3000" b="1" dirty="0">
                <a:solidFill>
                  <a:srgbClr val="0F1E22"/>
                </a:solidFill>
                <a:latin typeface="Cambria" pitchFamily="34" charset="0"/>
                <a:ea typeface="Cambria" pitchFamily="34" charset="-122"/>
                <a:cs typeface="Cambria" pitchFamily="34" charset="-120"/>
              </a:rPr>
              <a:t>NLP buys protection, the LPs certainty</a:t>
            </a:r>
            <a:endParaRPr lang="en-US" sz="3000" dirty="0"/>
          </a:p>
        </p:txBody>
      </p:sp>
      <p:sp>
        <p:nvSpPr>
          <p:cNvPr id="4" name="Shape 2"/>
          <p:cNvSpPr/>
          <p:nvPr/>
        </p:nvSpPr>
        <p:spPr>
          <a:xfrm>
            <a:off x="594360" y="1737360"/>
            <a:ext cx="5120640" cy="1371600"/>
          </a:xfrm>
          <a:prstGeom prst="roundRect">
            <a:avLst>
              <a:gd name="adj" fmla="val 2667"/>
            </a:avLst>
          </a:prstGeom>
          <a:solidFill>
            <a:srgbClr val="0D6068"/>
          </a:solidFill>
          <a:ln w="12700">
            <a:solidFill>
              <a:srgbClr val="0D6068"/>
            </a:solidFill>
            <a:prstDash val="solid"/>
          </a:ln>
        </p:spPr>
      </p:sp>
      <p:sp>
        <p:nvSpPr>
          <p:cNvPr id="5" name="Text 3"/>
          <p:cNvSpPr txBox="1"/>
          <p:nvPr/>
        </p:nvSpPr>
        <p:spPr>
          <a:xfrm>
            <a:off x="777240" y="1883664"/>
            <a:ext cx="4754880" cy="219456"/>
          </a:xfrm>
          <a:prstGeom prst="rect">
            <a:avLst/>
          </a:prstGeom>
          <a:noFill/>
          <a:ln/>
        </p:spPr>
        <p:txBody>
          <a:bodyPr wrap="square" lIns="0" tIns="0" rIns="0" bIns="0" rtlCol="0" anchor="ctr"/>
          <a:lstStyle/>
          <a:p>
            <a:pPr indent="0" marL="0">
              <a:buNone/>
            </a:pPr>
            <a:r>
              <a:rPr lang="en-US" sz="1000" b="1" spc="120" kern="0" dirty="0">
                <a:solidFill>
                  <a:srgbClr val="BFE4E4"/>
                </a:solidFill>
                <a:latin typeface="Calibri" pitchFamily="34" charset="0"/>
                <a:ea typeface="Calibri" pitchFamily="34" charset="-122"/>
                <a:cs typeface="Calibri" pitchFamily="34" charset="-120"/>
              </a:rPr>
              <a:t>NLP · AT CARRYING VALUE</a:t>
            </a:r>
            <a:endParaRPr lang="en-US" sz="1000" dirty="0"/>
          </a:p>
        </p:txBody>
      </p:sp>
      <p:sp>
        <p:nvSpPr>
          <p:cNvPr id="6" name="Text 4"/>
          <p:cNvSpPr txBox="1"/>
          <p:nvPr/>
        </p:nvSpPr>
        <p:spPr>
          <a:xfrm>
            <a:off x="777240" y="2121408"/>
            <a:ext cx="4754880" cy="5029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2.31x</a:t>
            </a:r>
            <a:endParaRPr lang="en-US" sz="2800" dirty="0"/>
          </a:p>
        </p:txBody>
      </p:sp>
      <p:sp>
        <p:nvSpPr>
          <p:cNvPr id="7" name="Text 5"/>
          <p:cNvSpPr txBox="1"/>
          <p:nvPr/>
        </p:nvSpPr>
        <p:spPr>
          <a:xfrm>
            <a:off x="777240" y="2651760"/>
            <a:ext cx="4754880" cy="347472"/>
          </a:xfrm>
          <a:prstGeom prst="rect">
            <a:avLst/>
          </a:prstGeom>
          <a:noFill/>
          <a:ln/>
        </p:spPr>
        <p:txBody>
          <a:bodyPr wrap="square" lIns="0" tIns="0" rIns="0" bIns="0" rtlCol="0" anchor="ctr"/>
          <a:lstStyle/>
          <a:p>
            <a:pPr indent="0" marL="0">
              <a:buNone/>
            </a:pPr>
            <a:r>
              <a:rPr lang="en-US" sz="1100" dirty="0">
                <a:solidFill>
                  <a:srgbClr val="BFE4E4"/>
                </a:solidFill>
                <a:latin typeface="Calibri" pitchFamily="34" charset="0"/>
                <a:ea typeface="Calibri" pitchFamily="34" charset="-122"/>
                <a:cs typeface="Calibri" pitchFamily="34" charset="-120"/>
              </a:rPr>
              <a:t>$80.8M on a $35M cheque, if the portfolio realises $360M</a:t>
            </a:r>
            <a:endParaRPr lang="en-US" sz="1100" dirty="0"/>
          </a:p>
        </p:txBody>
      </p:sp>
      <p:sp>
        <p:nvSpPr>
          <p:cNvPr id="8" name="Shape 6"/>
          <p:cNvSpPr/>
          <p:nvPr/>
        </p:nvSpPr>
        <p:spPr>
          <a:xfrm>
            <a:off x="594360" y="3246120"/>
            <a:ext cx="5120640" cy="1371600"/>
          </a:xfrm>
          <a:prstGeom prst="roundRect">
            <a:avLst>
              <a:gd name="adj" fmla="val 2667"/>
            </a:avLst>
          </a:prstGeom>
          <a:solidFill>
            <a:srgbClr val="F1F4F4"/>
          </a:solidFill>
          <a:ln w="12700">
            <a:solidFill>
              <a:srgbClr val="D5DCDD"/>
            </a:solidFill>
            <a:prstDash val="solid"/>
          </a:ln>
        </p:spPr>
      </p:sp>
      <p:sp>
        <p:nvSpPr>
          <p:cNvPr id="9" name="Text 7"/>
          <p:cNvSpPr txBox="1"/>
          <p:nvPr/>
        </p:nvSpPr>
        <p:spPr>
          <a:xfrm>
            <a:off x="777240" y="3392424"/>
            <a:ext cx="4754880" cy="219456"/>
          </a:xfrm>
          <a:prstGeom prst="rect">
            <a:avLst/>
          </a:prstGeom>
          <a:noFill/>
          <a:ln/>
        </p:spPr>
        <p:txBody>
          <a:bodyPr wrap="square" lIns="0" tIns="0" rIns="0" bIns="0" rtlCol="0" anchor="ctr"/>
          <a:lstStyle/>
          <a:p>
            <a:pPr indent="0" marL="0">
              <a:buNone/>
            </a:pPr>
            <a:r>
              <a:rPr lang="en-US" sz="1000" b="1" spc="120" kern="0" dirty="0">
                <a:solidFill>
                  <a:srgbClr val="6C7F85"/>
                </a:solidFill>
                <a:latin typeface="Calibri" pitchFamily="34" charset="0"/>
                <a:ea typeface="Calibri" pitchFamily="34" charset="-122"/>
                <a:cs typeface="Calibri" pitchFamily="34" charset="-120"/>
              </a:rPr>
              <a:t>NLP · WHOLE AT</a:t>
            </a:r>
            <a:endParaRPr lang="en-US" sz="1000" dirty="0"/>
          </a:p>
        </p:txBody>
      </p:sp>
      <p:sp>
        <p:nvSpPr>
          <p:cNvPr id="10" name="Text 8"/>
          <p:cNvSpPr txBox="1"/>
          <p:nvPr/>
        </p:nvSpPr>
        <p:spPr>
          <a:xfrm>
            <a:off x="777240" y="3630168"/>
            <a:ext cx="4754880" cy="502920"/>
          </a:xfrm>
          <a:prstGeom prst="rect">
            <a:avLst/>
          </a:prstGeom>
          <a:noFill/>
          <a:ln/>
        </p:spPr>
        <p:txBody>
          <a:bodyPr wrap="square" lIns="0" tIns="0" rIns="0" bIns="0" rtlCol="0" anchor="ctr"/>
          <a:lstStyle/>
          <a:p>
            <a:pPr indent="0" marL="0">
              <a:buNone/>
            </a:pPr>
            <a:r>
              <a:rPr lang="en-US" sz="2800" b="1" dirty="0">
                <a:solidFill>
                  <a:srgbClr val="0F1E22"/>
                </a:solidFill>
                <a:latin typeface="Cambria" pitchFamily="34" charset="0"/>
                <a:ea typeface="Cambria" pitchFamily="34" charset="-122"/>
                <a:cs typeface="Cambria" pitchFamily="34" charset="-120"/>
              </a:rPr>
              <a:t>$35M</a:t>
            </a:r>
            <a:endParaRPr lang="en-US" sz="2800" dirty="0"/>
          </a:p>
        </p:txBody>
      </p:sp>
      <p:sp>
        <p:nvSpPr>
          <p:cNvPr id="11" name="Text 9"/>
          <p:cNvSpPr txBox="1"/>
          <p:nvPr/>
        </p:nvSpPr>
        <p:spPr>
          <a:xfrm>
            <a:off x="777240" y="4160520"/>
            <a:ext cx="4754880" cy="347472"/>
          </a:xfrm>
          <a:prstGeom prst="rect">
            <a:avLst/>
          </a:prstGeom>
          <a:noFill/>
          <a:ln/>
        </p:spPr>
        <p:txBody>
          <a:bodyPr wrap="square" lIns="0" tIns="0" rIns="0" bIns="0" rtlCol="0" anchor="ctr"/>
          <a:lstStyle/>
          <a:p>
            <a:pPr indent="0" marL="0">
              <a:buNone/>
            </a:pPr>
            <a:r>
              <a:rPr lang="en-US" sz="1100" dirty="0">
                <a:solidFill>
                  <a:srgbClr val="6C7F85"/>
                </a:solidFill>
                <a:latin typeface="Calibri" pitchFamily="34" charset="0"/>
                <a:ea typeface="Calibri" pitchFamily="34" charset="-122"/>
                <a:cs typeface="Calibri" pitchFamily="34" charset="-120"/>
              </a:rPr>
              <a:t>of total exits, against a $360M carrying value</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172200" y="1737360"/>
          <a:ext cx="5394960" cy="914400"/>
        </p:xfrm>
        <a:graphic>
          <a:graphicData uri="http://schemas.openxmlformats.org/drawingml/2006/table">
            <a:tbl>
              <a:tblPr/>
              <a:tblGrid>
                <a:gridCol w="1554480"/>
                <a:gridCol w="1280160"/>
                <a:gridCol w="1280160"/>
                <a:gridCol w="1280160"/>
              </a:tblGrid>
              <a:tr h="438912">
                <a:tc>
                  <a:txBody>
                    <a:bodyPr/>
                    <a:lstStyle/>
                    <a:p>
                      <a:pPr algn="l" indent="0" marL="0">
                        <a:buNone/>
                      </a:pPr>
                      <a:r>
                        <a:rPr lang="en-US" sz="1000" b="1" spc="110" kern="0" dirty="0">
                          <a:solidFill>
                            <a:srgbClr val="6C7F85"/>
                          </a:solidFill>
                          <a:latin typeface="Calibri" pitchFamily="34" charset="0"/>
                          <a:ea typeface="Calibri" pitchFamily="34" charset="-122"/>
                          <a:cs typeface="Calibri" pitchFamily="34" charset="-120"/>
                        </a:rPr>
                        <a:t>OLD LPs REALISE…</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WITH</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WITHOUT</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c>
                  <a:txBody>
                    <a:bodyPr/>
                    <a:lstStyle/>
                    <a:p>
                      <a:pPr algn="r" indent="0" marL="0">
                        <a:buNone/>
                      </a:pPr>
                      <a:r>
                        <a:rPr lang="en-US" sz="1000" b="1" spc="110" kern="0" dirty="0">
                          <a:solidFill>
                            <a:srgbClr val="6C7F85"/>
                          </a:solidFill>
                          <a:latin typeface="Calibri" pitchFamily="34" charset="0"/>
                          <a:ea typeface="Calibri" pitchFamily="34" charset="-122"/>
                          <a:cs typeface="Calibri" pitchFamily="34" charset="-120"/>
                        </a:rPr>
                        <a:t>GIVE-UP</a:t>
                      </a:r>
                      <a:endParaRPr lang="en-US" sz="1000" dirty="0">
                        <a:latin typeface="Calibri" charset="0"/>
                        <a:ea typeface="Calibri" charset="0"/>
                        <a:cs typeface="Calibri" charset="0"/>
                      </a:endParaRPr>
                    </a:p>
                  </a:txBody>
                  <a:tcPr marL="91440" marR="91440" marT="45720" marB="45720" anchor="b">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0.25× NAV</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$65.0M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$72.0M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96501F"/>
                          </a:solidFill>
                          <a:latin typeface="Calibri" pitchFamily="34" charset="0"/>
                          <a:ea typeface="Calibri" pitchFamily="34" charset="-122"/>
                          <a:cs typeface="Calibri" pitchFamily="34" charset="-120"/>
                        </a:rPr>
                        <a:t>−$7.1M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38912">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0.50× NAV</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$114.0M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$133.8M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96501F"/>
                          </a:solidFill>
                          <a:latin typeface="Calibri" pitchFamily="34" charset="0"/>
                          <a:ea typeface="Calibri" pitchFamily="34" charset="-122"/>
                          <a:cs typeface="Calibri" pitchFamily="34" charset="-120"/>
                        </a:rPr>
                        <a:t>−$19.7M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38912">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1.00× NAV</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$212.1M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$257.3M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96501F"/>
                          </a:solidFill>
                          <a:latin typeface="Calibri" pitchFamily="34" charset="0"/>
                          <a:ea typeface="Calibri" pitchFamily="34" charset="-122"/>
                          <a:cs typeface="Calibri" pitchFamily="34" charset="-120"/>
                        </a:rPr>
                        <a:t>−$45.1M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r h="438912">
                <a:tc>
                  <a:txBody>
                    <a:bodyPr/>
                    <a:lstStyle/>
                    <a:p>
                      <a:pPr indent="0" marL="0">
                        <a:buNone/>
                      </a:pPr>
                      <a:r>
                        <a:rPr lang="en-US" sz="1200" dirty="0">
                          <a:solidFill>
                            <a:srgbClr val="3A4A50"/>
                          </a:solidFill>
                          <a:latin typeface="Calibri" pitchFamily="34" charset="0"/>
                          <a:ea typeface="Calibri" pitchFamily="34" charset="-122"/>
                          <a:cs typeface="Calibri" pitchFamily="34" charset="-120"/>
                        </a:rPr>
                        <a:t>1.50× NAV</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$310.2M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3A4A50"/>
                          </a:solidFill>
                          <a:latin typeface="Calibri" pitchFamily="34" charset="0"/>
                          <a:ea typeface="Calibri" pitchFamily="34" charset="-122"/>
                          <a:cs typeface="Calibri" pitchFamily="34" charset="-120"/>
                        </a:rPr>
                        <a:t>$380.7M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c>
                  <a:txBody>
                    <a:bodyPr/>
                    <a:lstStyle/>
                    <a:p>
                      <a:pPr algn="r" indent="0" marL="0">
                        <a:buNone/>
                      </a:pPr>
                      <a:r>
                        <a:rPr lang="en-US" sz="1200" dirty="0">
                          <a:solidFill>
                            <a:srgbClr val="96501F"/>
                          </a:solidFill>
                          <a:latin typeface="Calibri" pitchFamily="34" charset="0"/>
                          <a:ea typeface="Calibri" pitchFamily="34" charset="-122"/>
                          <a:cs typeface="Calibri" pitchFamily="34" charset="-120"/>
                        </a:rPr>
                        <a:t>−$70.5M</a:t>
                      </a:r>
                      <a:endParaRPr lang="en-US" sz="1200" dirty="0">
                        <a:latin typeface="Calibri" charset="0"/>
                        <a:ea typeface="Calibri" charset="0"/>
                        <a:cs typeface="Calibri" charset="0"/>
                      </a:endParaRPr>
                    </a:p>
                  </a:txBody>
                  <a:tcPr marL="91440" marR="91440" marT="45720" marB="45720" anchor="ctr">
                    <a:lnL w="6350" cap="flat" cmpd="sng" algn="ctr">
                      <a:solidFill>
                        <a:srgbClr val="D5DCDD"/>
                      </a:solidFill>
                      <a:prstDash val="solid"/>
                      <a:round/>
                      <a:headEnd type="none" w="med" len="med"/>
                      <a:tailEnd type="none" w="med" len="med"/>
                    </a:lnL>
                    <a:lnR w="6350" cap="flat" cmpd="sng" algn="ctr">
                      <a:solidFill>
                        <a:srgbClr val="D5DCDD"/>
                      </a:solidFill>
                      <a:prstDash val="solid"/>
                      <a:round/>
                      <a:headEnd type="none" w="med" len="med"/>
                      <a:tailEnd type="none" w="med" len="med"/>
                    </a:lnR>
                    <a:lnT w="6350" cap="flat" cmpd="sng" algn="ctr">
                      <a:solidFill>
                        <a:srgbClr val="D5DCDD"/>
                      </a:solidFill>
                      <a:prstDash val="solid"/>
                      <a:round/>
                      <a:headEnd type="none" w="med" len="med"/>
                      <a:tailEnd type="none" w="med" len="med"/>
                    </a:lnT>
                    <a:lnB w="6350" cap="flat" cmpd="sng" algn="ctr">
                      <a:solidFill>
                        <a:srgbClr val="D5DCDD"/>
                      </a:solidFill>
                      <a:prstDash val="solid"/>
                      <a:round/>
                      <a:headEnd type="none" w="med" len="med"/>
                      <a:tailEnd type="none" w="med" len="med"/>
                    </a:lnB>
                  </a:tcPr>
                </a:tc>
              </a:tr>
            </a:tbl>
          </a:graphicData>
        </a:graphic>
      </p:graphicFrame>
      <p:sp>
        <p:nvSpPr>
          <p:cNvPr id="13" name="Text 10"/>
          <p:cNvSpPr txBox="1"/>
          <p:nvPr/>
        </p:nvSpPr>
        <p:spPr>
          <a:xfrm>
            <a:off x="594360" y="4892040"/>
            <a:ext cx="10789920" cy="914400"/>
          </a:xfrm>
          <a:prstGeom prst="rect">
            <a:avLst/>
          </a:prstGeom>
          <a:noFill/>
          <a:ln/>
        </p:spPr>
        <p:txBody>
          <a:bodyPr wrap="square" lIns="0" tIns="0" rIns="0" bIns="0" rtlCol="0" anchor="ctr"/>
          <a:lstStyle/>
          <a:p>
            <a:pPr indent="0" marL="0">
              <a:lnSpc>
                <a:spcPts val="2100"/>
              </a:lnSpc>
              <a:buNone/>
            </a:pPr>
            <a:r>
              <a:rPr lang="en-US" sz="1400" dirty="0">
                <a:solidFill>
                  <a:srgbClr val="3A4A50"/>
                </a:solidFill>
                <a:latin typeface="Calibri" pitchFamily="34" charset="0"/>
                <a:ea typeface="Calibri" pitchFamily="34" charset="-122"/>
                <a:cs typeface="Calibri" pitchFamily="34" charset="-120"/>
              </a:rPr>
              <a:t>The old LPs swap 14.1% of all future profit for $35M today — and because $35M is close to the $34.30M of capital they were owed anyway, they are indifferent at about $40M of total future proceeds. Above that they are paying with upside.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E22"/>
        </a:solidFill>
      </p:bgPr>
    </p:bg>
    <p:spTree>
      <p:nvGrpSpPr>
        <p:cNvPr id="1" name=""/>
        <p:cNvGrpSpPr/>
        <p:nvPr/>
      </p:nvGrpSpPr>
      <p:grpSpPr>
        <a:xfrm>
          <a:off x="0" y="0"/>
          <a:ext cx="0" cy="0"/>
          <a:chOff x="0" y="0"/>
          <a:chExt cx="0" cy="0"/>
        </a:xfrm>
      </p:grpSpPr>
      <p:sp>
        <p:nvSpPr>
          <p:cNvPr id="2" name="Text 0"/>
          <p:cNvSpPr txBox="1"/>
          <p:nvPr/>
        </p:nvSpPr>
        <p:spPr>
          <a:xfrm>
            <a:off x="594360" y="640080"/>
            <a:ext cx="10972800" cy="274320"/>
          </a:xfrm>
          <a:prstGeom prst="rect">
            <a:avLst/>
          </a:prstGeom>
          <a:noFill/>
          <a:ln/>
        </p:spPr>
        <p:txBody>
          <a:bodyPr wrap="square" lIns="0" tIns="0" rIns="0" bIns="0" rtlCol="0" anchor="ctr"/>
          <a:lstStyle/>
          <a:p>
            <a:pPr indent="0" marL="0">
              <a:buNone/>
            </a:pPr>
            <a:r>
              <a:rPr lang="en-US" sz="1200" b="1" spc="240" kern="0" dirty="0">
                <a:solidFill>
                  <a:srgbClr val="5ECACD"/>
                </a:solidFill>
                <a:latin typeface="Calibri" pitchFamily="34" charset="0"/>
                <a:ea typeface="Calibri" pitchFamily="34" charset="-122"/>
                <a:cs typeface="Calibri" pitchFamily="34" charset="-120"/>
              </a:rPr>
              <a:t>WHERE IT STANDS</a:t>
            </a:r>
            <a:endParaRPr lang="en-US" sz="1200" dirty="0"/>
          </a:p>
        </p:txBody>
      </p:sp>
      <p:sp>
        <p:nvSpPr>
          <p:cNvPr id="3" name="Text 1"/>
          <p:cNvSpPr txBox="1"/>
          <p:nvPr/>
        </p:nvSpPr>
        <p:spPr>
          <a:xfrm>
            <a:off x="594360" y="1005840"/>
            <a:ext cx="96012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arithmetic closes. Six things to settle.</a:t>
            </a:r>
            <a:endParaRPr lang="en-US" sz="3200" dirty="0"/>
          </a:p>
        </p:txBody>
      </p:sp>
      <p:sp>
        <p:nvSpPr>
          <p:cNvPr id="4" name="Shape 2"/>
          <p:cNvSpPr/>
          <p:nvPr/>
        </p:nvSpPr>
        <p:spPr>
          <a:xfrm>
            <a:off x="594360" y="2075688"/>
            <a:ext cx="384048" cy="384048"/>
          </a:xfrm>
          <a:prstGeom prst="ellipse">
            <a:avLst/>
          </a:prstGeom>
          <a:solidFill>
            <a:srgbClr val="16383D"/>
          </a:solidFill>
          <a:ln w="12700">
            <a:solidFill>
              <a:srgbClr val="5ECACD"/>
            </a:solidFill>
            <a:prstDash val="solid"/>
          </a:ln>
        </p:spPr>
      </p:sp>
      <p:sp>
        <p:nvSpPr>
          <p:cNvPr id="5" name="Text 3"/>
          <p:cNvSpPr txBox="1"/>
          <p:nvPr/>
        </p:nvSpPr>
        <p:spPr>
          <a:xfrm>
            <a:off x="594360" y="2130552"/>
            <a:ext cx="384048" cy="274320"/>
          </a:xfrm>
          <a:prstGeom prst="rect">
            <a:avLst/>
          </a:prstGeom>
          <a:noFill/>
          <a:ln/>
        </p:spPr>
        <p:txBody>
          <a:bodyPr wrap="square" lIns="0" tIns="0" rIns="0" bIns="0" rtlCol="0" anchor="ctr"/>
          <a:lstStyle/>
          <a:p>
            <a:pPr algn="ctr" indent="0" marL="0">
              <a:buNone/>
            </a:pPr>
            <a:r>
              <a:rPr lang="en-US" sz="1200" b="1" dirty="0">
                <a:solidFill>
                  <a:srgbClr val="5ECACD"/>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61288" y="2057400"/>
            <a:ext cx="10424160" cy="502920"/>
          </a:xfrm>
          <a:prstGeom prst="rect">
            <a:avLst/>
          </a:prstGeom>
          <a:noFill/>
          <a:ln/>
        </p:spPr>
        <p:txBody>
          <a:bodyPr wrap="square" lIns="0" tIns="0" rIns="0" bIns="0" rtlCol="0" anchor="ctr"/>
          <a:lstStyle/>
          <a:p>
            <a:pPr indent="0" marL="0">
              <a:lnSpc>
                <a:spcPts val="2000"/>
              </a:lnSpc>
              <a:buNone/>
            </a:pPr>
            <a:r>
              <a:rPr lang="en-US" sz="1450" dirty="0">
                <a:solidFill>
                  <a:srgbClr val="D6E3E4"/>
                </a:solidFill>
                <a:latin typeface="Calibri" pitchFamily="34" charset="0"/>
                <a:ea typeface="Calibri" pitchFamily="34" charset="-122"/>
                <a:cs typeface="Calibri" pitchFamily="34" charset="-120"/>
              </a:rPr>
              <a:t>Settle NLPI's slice and re-derive the preference from it — it sets every exit split.</a:t>
            </a:r>
            <a:endParaRPr lang="en-US" sz="1450" dirty="0"/>
          </a:p>
        </p:txBody>
      </p:sp>
      <p:sp>
        <p:nvSpPr>
          <p:cNvPr id="7" name="Shape 5"/>
          <p:cNvSpPr/>
          <p:nvPr/>
        </p:nvSpPr>
        <p:spPr>
          <a:xfrm>
            <a:off x="594360" y="2734056"/>
            <a:ext cx="384048" cy="384048"/>
          </a:xfrm>
          <a:prstGeom prst="ellipse">
            <a:avLst/>
          </a:prstGeom>
          <a:solidFill>
            <a:srgbClr val="16383D"/>
          </a:solidFill>
          <a:ln w="12700">
            <a:solidFill>
              <a:srgbClr val="5ECACD"/>
            </a:solidFill>
            <a:prstDash val="solid"/>
          </a:ln>
        </p:spPr>
      </p:sp>
      <p:sp>
        <p:nvSpPr>
          <p:cNvPr id="8" name="Text 6"/>
          <p:cNvSpPr txBox="1"/>
          <p:nvPr/>
        </p:nvSpPr>
        <p:spPr>
          <a:xfrm>
            <a:off x="594360" y="2788920"/>
            <a:ext cx="384048" cy="274320"/>
          </a:xfrm>
          <a:prstGeom prst="rect">
            <a:avLst/>
          </a:prstGeom>
          <a:noFill/>
          <a:ln/>
        </p:spPr>
        <p:txBody>
          <a:bodyPr wrap="square" lIns="0" tIns="0" rIns="0" bIns="0" rtlCol="0" anchor="ctr"/>
          <a:lstStyle/>
          <a:p>
            <a:pPr algn="ctr" indent="0" marL="0">
              <a:buNone/>
            </a:pPr>
            <a:r>
              <a:rPr lang="en-US" sz="1200" b="1" dirty="0">
                <a:solidFill>
                  <a:srgbClr val="5ECACD"/>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1161288" y="2715768"/>
            <a:ext cx="10424160" cy="502920"/>
          </a:xfrm>
          <a:prstGeom prst="rect">
            <a:avLst/>
          </a:prstGeom>
          <a:noFill/>
          <a:ln/>
        </p:spPr>
        <p:txBody>
          <a:bodyPr wrap="square" lIns="0" tIns="0" rIns="0" bIns="0" rtlCol="0" anchor="ctr"/>
          <a:lstStyle/>
          <a:p>
            <a:pPr indent="0" marL="0">
              <a:lnSpc>
                <a:spcPts val="2000"/>
              </a:lnSpc>
              <a:buNone/>
            </a:pPr>
            <a:r>
              <a:rPr lang="en-US" sz="1450" dirty="0">
                <a:solidFill>
                  <a:srgbClr val="D6E3E4"/>
                </a:solidFill>
                <a:latin typeface="Calibri" pitchFamily="34" charset="0"/>
                <a:ea typeface="Calibri" pitchFamily="34" charset="-122"/>
                <a:cs typeface="Calibri" pitchFamily="34" charset="-120"/>
              </a:rPr>
              <a:t>State the priority return as an aggregate $35M across both NLP vehicles, with the preference as the balance.</a:t>
            </a:r>
            <a:endParaRPr lang="en-US" sz="1450" dirty="0"/>
          </a:p>
        </p:txBody>
      </p:sp>
      <p:sp>
        <p:nvSpPr>
          <p:cNvPr id="10" name="Shape 8"/>
          <p:cNvSpPr/>
          <p:nvPr/>
        </p:nvSpPr>
        <p:spPr>
          <a:xfrm>
            <a:off x="594360" y="3392424"/>
            <a:ext cx="384048" cy="384048"/>
          </a:xfrm>
          <a:prstGeom prst="ellipse">
            <a:avLst/>
          </a:prstGeom>
          <a:solidFill>
            <a:srgbClr val="16383D"/>
          </a:solidFill>
          <a:ln w="12700">
            <a:solidFill>
              <a:srgbClr val="5ECACD"/>
            </a:solidFill>
            <a:prstDash val="solid"/>
          </a:ln>
        </p:spPr>
      </p:sp>
      <p:sp>
        <p:nvSpPr>
          <p:cNvPr id="11" name="Text 9"/>
          <p:cNvSpPr txBox="1"/>
          <p:nvPr/>
        </p:nvSpPr>
        <p:spPr>
          <a:xfrm>
            <a:off x="594360" y="3447288"/>
            <a:ext cx="384048" cy="274320"/>
          </a:xfrm>
          <a:prstGeom prst="rect">
            <a:avLst/>
          </a:prstGeom>
          <a:noFill/>
          <a:ln/>
        </p:spPr>
        <p:txBody>
          <a:bodyPr wrap="square" lIns="0" tIns="0" rIns="0" bIns="0" rtlCol="0" anchor="ctr"/>
          <a:lstStyle/>
          <a:p>
            <a:pPr algn="ctr" indent="0" marL="0">
              <a:buNone/>
            </a:pPr>
            <a:r>
              <a:rPr lang="en-US" sz="1200" b="1" dirty="0">
                <a:solidFill>
                  <a:srgbClr val="5ECACD"/>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1161288" y="3374136"/>
            <a:ext cx="10424160" cy="502920"/>
          </a:xfrm>
          <a:prstGeom prst="rect">
            <a:avLst/>
          </a:prstGeom>
          <a:noFill/>
          <a:ln/>
        </p:spPr>
        <p:txBody>
          <a:bodyPr wrap="square" lIns="0" tIns="0" rIns="0" bIns="0" rtlCol="0" anchor="ctr"/>
          <a:lstStyle/>
          <a:p>
            <a:pPr indent="0" marL="0">
              <a:lnSpc>
                <a:spcPts val="2000"/>
              </a:lnSpc>
              <a:buNone/>
            </a:pPr>
            <a:r>
              <a:rPr lang="en-US" sz="1450" dirty="0">
                <a:solidFill>
                  <a:srgbClr val="D6E3E4"/>
                </a:solidFill>
                <a:latin typeface="Calibri" pitchFamily="34" charset="0"/>
                <a:ea typeface="Calibri" pitchFamily="34" charset="-122"/>
                <a:cs typeface="Calibri" pitchFamily="34" charset="-120"/>
              </a:rPr>
              <a:t>Price the onshore transfer taxes and confirm the discount survives the pricing floor.</a:t>
            </a:r>
            <a:endParaRPr lang="en-US" sz="1450" dirty="0"/>
          </a:p>
        </p:txBody>
      </p:sp>
      <p:sp>
        <p:nvSpPr>
          <p:cNvPr id="13" name="Shape 11"/>
          <p:cNvSpPr/>
          <p:nvPr/>
        </p:nvSpPr>
        <p:spPr>
          <a:xfrm>
            <a:off x="594360" y="4050792"/>
            <a:ext cx="384048" cy="384048"/>
          </a:xfrm>
          <a:prstGeom prst="ellipse">
            <a:avLst/>
          </a:prstGeom>
          <a:solidFill>
            <a:srgbClr val="16383D"/>
          </a:solidFill>
          <a:ln w="12700">
            <a:solidFill>
              <a:srgbClr val="5ECACD"/>
            </a:solidFill>
            <a:prstDash val="solid"/>
          </a:ln>
        </p:spPr>
      </p:sp>
      <p:sp>
        <p:nvSpPr>
          <p:cNvPr id="14" name="Text 12"/>
          <p:cNvSpPr txBox="1"/>
          <p:nvPr/>
        </p:nvSpPr>
        <p:spPr>
          <a:xfrm>
            <a:off x="594360" y="4105656"/>
            <a:ext cx="384048" cy="274320"/>
          </a:xfrm>
          <a:prstGeom prst="rect">
            <a:avLst/>
          </a:prstGeom>
          <a:noFill/>
          <a:ln/>
        </p:spPr>
        <p:txBody>
          <a:bodyPr wrap="square" lIns="0" tIns="0" rIns="0" bIns="0" rtlCol="0" anchor="ctr"/>
          <a:lstStyle/>
          <a:p>
            <a:pPr algn="ctr" indent="0" marL="0">
              <a:buNone/>
            </a:pPr>
            <a:r>
              <a:rPr lang="en-US" sz="1200" b="1" dirty="0">
                <a:solidFill>
                  <a:srgbClr val="5ECACD"/>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161288" y="4032504"/>
            <a:ext cx="10424160" cy="502920"/>
          </a:xfrm>
          <a:prstGeom prst="rect">
            <a:avLst/>
          </a:prstGeom>
          <a:noFill/>
          <a:ln/>
        </p:spPr>
        <p:txBody>
          <a:bodyPr wrap="square" lIns="0" tIns="0" rIns="0" bIns="0" rtlCol="0" anchor="ctr"/>
          <a:lstStyle/>
          <a:p>
            <a:pPr indent="0" marL="0">
              <a:lnSpc>
                <a:spcPts val="2000"/>
              </a:lnSpc>
              <a:buNone/>
            </a:pPr>
            <a:r>
              <a:rPr lang="en-US" sz="1450" dirty="0">
                <a:solidFill>
                  <a:srgbClr val="D6E3E4"/>
                </a:solidFill>
                <a:latin typeface="Calibri" pitchFamily="34" charset="0"/>
                <a:ea typeface="Calibri" pitchFamily="34" charset="-122"/>
                <a:cs typeface="Calibri" pitchFamily="34" charset="-120"/>
              </a:rPr>
              <a:t>Paper the NLPF → NLPI route and confirm the two vehicles' LP bases align — it carries $30.56M of the $35M.</a:t>
            </a:r>
            <a:endParaRPr lang="en-US" sz="1450" dirty="0"/>
          </a:p>
        </p:txBody>
      </p:sp>
      <p:sp>
        <p:nvSpPr>
          <p:cNvPr id="16" name="Shape 14"/>
          <p:cNvSpPr/>
          <p:nvPr/>
        </p:nvSpPr>
        <p:spPr>
          <a:xfrm>
            <a:off x="594360" y="4709160"/>
            <a:ext cx="384048" cy="384048"/>
          </a:xfrm>
          <a:prstGeom prst="ellipse">
            <a:avLst/>
          </a:prstGeom>
          <a:solidFill>
            <a:srgbClr val="16383D"/>
          </a:solidFill>
          <a:ln w="12700">
            <a:solidFill>
              <a:srgbClr val="5ECACD"/>
            </a:solidFill>
            <a:prstDash val="solid"/>
          </a:ln>
        </p:spPr>
      </p:sp>
      <p:sp>
        <p:nvSpPr>
          <p:cNvPr id="17" name="Text 15"/>
          <p:cNvSpPr txBox="1"/>
          <p:nvPr/>
        </p:nvSpPr>
        <p:spPr>
          <a:xfrm>
            <a:off x="594360" y="4764024"/>
            <a:ext cx="384048" cy="274320"/>
          </a:xfrm>
          <a:prstGeom prst="rect">
            <a:avLst/>
          </a:prstGeom>
          <a:noFill/>
          <a:ln/>
        </p:spPr>
        <p:txBody>
          <a:bodyPr wrap="square" lIns="0" tIns="0" rIns="0" bIns="0" rtlCol="0" anchor="ctr"/>
          <a:lstStyle/>
          <a:p>
            <a:pPr algn="ctr" indent="0" marL="0">
              <a:buNone/>
            </a:pPr>
            <a:r>
              <a:rPr lang="en-US" sz="1200" b="1" dirty="0">
                <a:solidFill>
                  <a:srgbClr val="5ECACD"/>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1161288" y="4690872"/>
            <a:ext cx="10424160" cy="502920"/>
          </a:xfrm>
          <a:prstGeom prst="rect">
            <a:avLst/>
          </a:prstGeom>
          <a:noFill/>
          <a:ln/>
        </p:spPr>
        <p:txBody>
          <a:bodyPr wrap="square" lIns="0" tIns="0" rIns="0" bIns="0" rtlCol="0" anchor="ctr"/>
          <a:lstStyle/>
          <a:p>
            <a:pPr indent="0" marL="0">
              <a:lnSpc>
                <a:spcPts val="2000"/>
              </a:lnSpc>
              <a:buNone/>
            </a:pPr>
            <a:r>
              <a:rPr lang="en-US" sz="1450" dirty="0">
                <a:solidFill>
                  <a:srgbClr val="D6E3E4"/>
                </a:solidFill>
                <a:latin typeface="Calibri" pitchFamily="34" charset="0"/>
                <a:ea typeface="Calibri" pitchFamily="34" charset="-122"/>
                <a:cs typeface="Calibri" pitchFamily="34" charset="-120"/>
              </a:rPr>
              <a:t>Confirm the put/call's enforceability and tax treatment per domicile.</a:t>
            </a:r>
            <a:endParaRPr lang="en-US" sz="1450" dirty="0"/>
          </a:p>
        </p:txBody>
      </p:sp>
      <p:sp>
        <p:nvSpPr>
          <p:cNvPr id="19" name="Shape 17"/>
          <p:cNvSpPr/>
          <p:nvPr/>
        </p:nvSpPr>
        <p:spPr>
          <a:xfrm>
            <a:off x="594360" y="5367528"/>
            <a:ext cx="384048" cy="384048"/>
          </a:xfrm>
          <a:prstGeom prst="ellipse">
            <a:avLst/>
          </a:prstGeom>
          <a:solidFill>
            <a:srgbClr val="16383D"/>
          </a:solidFill>
          <a:ln w="12700">
            <a:solidFill>
              <a:srgbClr val="5ECACD"/>
            </a:solidFill>
            <a:prstDash val="solid"/>
          </a:ln>
        </p:spPr>
      </p:sp>
      <p:sp>
        <p:nvSpPr>
          <p:cNvPr id="20" name="Text 18"/>
          <p:cNvSpPr txBox="1"/>
          <p:nvPr/>
        </p:nvSpPr>
        <p:spPr>
          <a:xfrm>
            <a:off x="594360" y="5422392"/>
            <a:ext cx="384048" cy="274320"/>
          </a:xfrm>
          <a:prstGeom prst="rect">
            <a:avLst/>
          </a:prstGeom>
          <a:noFill/>
          <a:ln/>
        </p:spPr>
        <p:txBody>
          <a:bodyPr wrap="square" lIns="0" tIns="0" rIns="0" bIns="0" rtlCol="0" anchor="ctr"/>
          <a:lstStyle/>
          <a:p>
            <a:pPr algn="ctr" indent="0" marL="0">
              <a:buNone/>
            </a:pPr>
            <a:r>
              <a:rPr lang="en-US" sz="1200" b="1" dirty="0">
                <a:solidFill>
                  <a:srgbClr val="5ECACD"/>
                </a:solidFill>
                <a:latin typeface="Calibri" pitchFamily="34" charset="0"/>
                <a:ea typeface="Calibri" pitchFamily="34" charset="-122"/>
                <a:cs typeface="Calibri" pitchFamily="34" charset="-120"/>
              </a:rPr>
              <a:t>6</a:t>
            </a:r>
            <a:endParaRPr lang="en-US" sz="1200" dirty="0"/>
          </a:p>
        </p:txBody>
      </p:sp>
      <p:sp>
        <p:nvSpPr>
          <p:cNvPr id="21" name="Text 19"/>
          <p:cNvSpPr txBox="1"/>
          <p:nvPr/>
        </p:nvSpPr>
        <p:spPr>
          <a:xfrm>
            <a:off x="1161288" y="5349240"/>
            <a:ext cx="10424160" cy="502920"/>
          </a:xfrm>
          <a:prstGeom prst="rect">
            <a:avLst/>
          </a:prstGeom>
          <a:noFill/>
          <a:ln/>
        </p:spPr>
        <p:txBody>
          <a:bodyPr wrap="square" lIns="0" tIns="0" rIns="0" bIns="0" rtlCol="0" anchor="ctr"/>
          <a:lstStyle/>
          <a:p>
            <a:pPr indent="0" marL="0">
              <a:lnSpc>
                <a:spcPts val="2000"/>
              </a:lnSpc>
              <a:buNone/>
            </a:pPr>
            <a:r>
              <a:rPr lang="en-US" sz="1450" dirty="0">
                <a:solidFill>
                  <a:srgbClr val="D6E3E4"/>
                </a:solidFill>
                <a:latin typeface="Calibri" pitchFamily="34" charset="0"/>
                <a:ea typeface="Calibri" pitchFamily="34" charset="-122"/>
                <a:cs typeface="Calibri" pitchFamily="34" charset="-120"/>
              </a:rPr>
              <a:t>Class A's $0.70M share of the outstanding return of capital, which the $35M does not fund.</a:t>
            </a:r>
            <a:endParaRPr lang="en-US" sz="1450" dirty="0"/>
          </a:p>
        </p:txBody>
      </p:sp>
      <p:sp>
        <p:nvSpPr>
          <p:cNvPr id="22" name="Text 20"/>
          <p:cNvSpPr txBox="1"/>
          <p:nvPr/>
        </p:nvSpPr>
        <p:spPr>
          <a:xfrm>
            <a:off x="594360" y="6172200"/>
            <a:ext cx="10789920" cy="365760"/>
          </a:xfrm>
          <a:prstGeom prst="rect">
            <a:avLst/>
          </a:prstGeom>
          <a:noFill/>
          <a:ln/>
        </p:spPr>
        <p:txBody>
          <a:bodyPr wrap="square" lIns="0" tIns="0" rIns="0" bIns="0" rtlCol="0" anchor="ctr"/>
          <a:lstStyle/>
          <a:p>
            <a:pPr indent="0" marL="0">
              <a:buNone/>
            </a:pPr>
            <a:r>
              <a:rPr lang="en-US" sz="1100" dirty="0">
                <a:solidFill>
                  <a:srgbClr val="6C7F85"/>
                </a:solidFill>
                <a:latin typeface="Calibri" pitchFamily="34" charset="0"/>
                <a:ea typeface="Calibri" pitchFamily="34" charset="-122"/>
                <a:cs typeface="Calibri" pitchFamily="34" charset="-120"/>
              </a:rPr>
              <a:t>Every figure in this deck is computed from the fund's own primitives, not quoted — the waterfall is reimplemented and 59 tests pin these numbers.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SB2 / NLP Secondary</dc:title>
  <dc:subject>PptxGenJS Presentation</dc:subject>
  <dc:creator>Prime VP</dc:creator>
  <cp:lastModifiedBy>Prime VP</cp:lastModifiedBy>
  <cp:revision>1</cp:revision>
  <dcterms:created xsi:type="dcterms:W3CDTF">2026-08-29T18:45:58Z</dcterms:created>
  <dcterms:modified xsi:type="dcterms:W3CDTF">2026-08-29T18:45:58Z</dcterms:modified>
</cp:coreProperties>
</file>